
<file path=[Content_Types].xml><?xml version="1.0" encoding="utf-8"?>
<ns0:Types xmlns:ns0="http://schemas.openxmlformats.org/package/2006/content-types">
  <ns0:Default Extension="jpeg" ContentType="image/jpeg"/>
  <ns0:Default Extension="jpg" ContentType="image/jpeg"/>
  <ns0:Default Extension="png" ContentType="image/png"/>
  <ns0:Default Extension="rels" ContentType="application/vnd.openxmlformats-package.relationships+xml"/>
  <ns0:Default Extension="xml" ContentType="application/xml"/>
  <ns0:Override PartName="/ppt/presentation.xml" ContentType="application/vnd.openxmlformats-officedocument.presentationml.presentation.main+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slides/slide18.xml" ContentType="application/vnd.openxmlformats-officedocument.presentationml.slide+xml"/>
  <ns0:Override PartName="/ppt/notesMasters/notesMaster1.xml" ContentType="application/vnd.openxmlformats-officedocument.presentationml.notesMaster+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theme/theme2.xml" ContentType="application/vnd.openxmlformats-officedocument.theme+xml"/>
  <ns0:Override PartName="/ppt/notesSlides/notesSlide1.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notesSlides/notesSlide10.xml" ContentType="application/vnd.openxmlformats-officedocument.presentationml.notesSlide+xml"/>
  <ns0:Override PartName="/ppt/notesSlides/notesSlide11.xml" ContentType="application/vnd.openxmlformats-officedocument.presentationml.notesSlide+xml"/>
  <ns0:Override PartName="/ppt/notesSlides/notesSlide12.xml" ContentType="application/vnd.openxmlformats-officedocument.presentationml.notesSlide+xml"/>
  <ns0:Override PartName="/ppt/notesSlides/notesSlide13.xml" ContentType="application/vnd.openxmlformats-officedocument.presentationml.notesSlide+xml"/>
  <ns0:Override PartName="/ppt/notesSlides/notesSlide14.xml" ContentType="application/vnd.openxmlformats-officedocument.presentationml.notesSlide+xml"/>
  <ns0:Override PartName="/ppt/notesSlides/notesSlide15.xml" ContentType="application/vnd.openxmlformats-officedocument.presentationml.notesSlide+xml"/>
  <ns0:Override PartName="/docProps/core.xml" ContentType="application/vnd.openxmlformats-package.core-properties+xml"/>
  <ns0:Override PartName="/docProps/app.xml" ContentType="application/vnd.openxmlformats-officedocument.extended-properties+xml"/>
  <ns0:Override PartName="/ppt/notesSlides/notesSlide16.xml" ContentType="application/vnd.openxmlformats-officedocument.presentationml.notesSlide+xml"/>
  <ns0:Override PartName="/ppt/notesSlides/notesSlide17.xml" ContentType="application/vnd.openxmlformats-officedocument.presentationml.notesSlide+xml"/>
  <ns0:Override PartName="/ppt/notesSlides/notesSlide18.xml" ContentType="application/vnd.openxmlformats-officedocument.presentationml.notesSlide+xml"/>
</ns0: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sldIdLst>
    <p:sldId id="256" r:id="rId2"/>
    <p:sldId id="283" r:id="rId3"/>
    <p:sldId id="280" r:id="rId4"/>
    <p:sldId id="297" r:id="rId5"/>
    <p:sldId id="298" r:id="rId6"/>
    <p:sldId id="332" r:id="rId7"/>
    <p:sldId id="311" r:id="rId8"/>
    <p:sldId id="293" r:id="rId9"/>
    <p:sldId id="310" r:id="rId10"/>
    <p:sldId id="307" r:id="rId11"/>
    <p:sldId id="308" r:id="rId12"/>
    <p:sldId id="336" r:id="rId13"/>
    <p:sldId id="333" r:id="rId14"/>
    <p:sldId id="334" r:id="rId15"/>
    <p:sldId id="304" r:id="rId16"/>
    <p:sldId id="319" r:id="rId17"/>
    <p:sldId id="292" r:id="rId18"/>
    <p:sldId id="324" r:id="rId19"/>
  </p:sldIdLst>
  <p:sldSz cx="9144000" cy="5143500" type="screen16x9"/>
  <p:notesSz cx="6858000" cy="9144000"/>
  <p:defaultTex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1pPr>
    <a:lvl2pPr marL="0" marR="0" indent="17145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2pPr>
    <a:lvl3pPr marL="0" marR="0" indent="34290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3pPr>
    <a:lvl4pPr marL="0" marR="0" indent="51435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4pPr>
    <a:lvl5pPr marL="0" marR="0" indent="68580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5pPr>
    <a:lvl6pPr marL="0" marR="0" indent="85725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6pPr>
    <a:lvl7pPr marL="0" marR="0" indent="102870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7pPr>
    <a:lvl8pPr marL="0" marR="0" indent="120015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8pPr>
    <a:lvl9pPr marL="0" marR="0" indent="137160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EAE46"/>
    <a:srgbClr val="FFF2CC"/>
    <a:srgbClr val="8C8C8C"/>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3 Regular"/>
          <a:ea typeface="Source Sans 3 Regular"/>
          <a:cs typeface="Source Sans 3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Source Sans 3 Bold"/>
          <a:ea typeface="Source Sans 3 Bold"/>
          <a:cs typeface="Source Sans 3 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Source Sans 3 Bold"/>
          <a:ea typeface="Source Sans 3 Bold"/>
          <a:cs typeface="Source Sans 3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Source Sans 3 Bold"/>
          <a:ea typeface="Source Sans 3 Bold"/>
          <a:cs typeface="Source Sans 3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Source Sans 3 Regular"/>
          <a:ea typeface="Source Sans 3 Regular"/>
          <a:cs typeface="Source Sans 3 Regular"/>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Source Sans 3 Bold"/>
          <a:ea typeface="Source Sans 3 Bold"/>
          <a:cs typeface="Source Sans 3 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Source Sans 3 Regular"/>
          <a:ea typeface="Source Sans 3 Regular"/>
          <a:cs typeface="Source Sans 3 Regular"/>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Source Sans 3 Bold"/>
          <a:ea typeface="Source Sans 3 Bold"/>
          <a:cs typeface="Source Sans 3 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Source Sans 3 Regular"/>
          <a:ea typeface="Source Sans 3 Regular"/>
          <a:cs typeface="Source Sans 3 Regular"/>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Source Sans 3 Medium"/>
          <a:ea typeface="Source Sans 3 Medium"/>
          <a:cs typeface="Source Sans 3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
          <a:latin typeface="Source Sans 3 Regular"/>
          <a:ea typeface="Source Sans 3 Regular"/>
          <a:cs typeface="Source Sans 3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Source Sans 3 Medium"/>
          <a:ea typeface="Source Sans 3 Medium"/>
          <a:cs typeface="Source Sans 3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Source Sans 3 Regular"/>
          <a:ea typeface="Source Sans 3 Regular"/>
          <a:cs typeface="Source Sans 3 Regular"/>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Source Sans 3 Medium"/>
          <a:ea typeface="Source Sans 3 Medium"/>
          <a:cs typeface="Source Sans 3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Source Sans 3 Medium"/>
          <a:ea typeface="Source Sans 3 Medium"/>
          <a:cs typeface="Source Sans 3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Source Sans 3 Medium"/>
          <a:ea typeface="Source Sans 3 Medium"/>
          <a:cs typeface="Source Sans 3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Source Sans 3 Regular"/>
          <a:ea typeface="Source Sans 3 Regular"/>
          <a:cs typeface="Source Sans 3 Regular"/>
        </a:font>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
          <a:latin typeface="Source Sans 3 Bold"/>
          <a:ea typeface="Source Sans 3 Bold"/>
          <a:cs typeface="Source Sans 3 Bold"/>
        </a:font>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
          <a:latin typeface="Source Sans 3 Bold"/>
          <a:ea typeface="Source Sans 3 Bold"/>
          <a:cs typeface="Source Sans 3 Bold"/>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
          <a:latin typeface="Source Sans 3 Bold"/>
          <a:ea typeface="Source Sans 3 Bold"/>
          <a:cs typeface="Source Sans 3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Source Sans 3 Regular"/>
          <a:ea typeface="Source Sans 3 Regular"/>
          <a:cs typeface="Source Sans 3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
          <a:latin typeface="Source Sans 3 Bold"/>
          <a:ea typeface="Source Sans 3 Bold"/>
          <a:cs typeface="Source Sans 3 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Source Sans 3 Bold"/>
          <a:ea typeface="Source Sans 3 Bold"/>
          <a:cs typeface="Source Sans 3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Source Sans 3 Bold"/>
          <a:ea typeface="Source Sans 3 Bold"/>
          <a:cs typeface="Source Sans 3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82" autoAdjust="0"/>
    <p:restoredTop sz="77031" autoAdjust="0"/>
  </p:normalViewPr>
  <p:slideViewPr>
    <p:cSldViewPr snapToGrid="0" showGuides="1">
      <p:cViewPr varScale="1">
        <p:scale>
          <a:sx n="118" d="100"/>
          <a:sy n="118" d="100"/>
        </p:scale>
        <p:origin x="208"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1" name="Shape 221"/>
          <p:cNvSpPr>
            <a:spLocks noGrp="1" noRot="1" noChangeAspect="1"/>
          </p:cNvSpPr>
          <p:nvPr>
            <p:ph type="sldImg"/>
          </p:nvPr>
        </p:nvSpPr>
        <p:spPr>
          <a:xfrm>
            <a:off x="381000" y="685800"/>
            <a:ext cx="6096000" cy="3429000"/>
          </a:xfrm>
          <a:prstGeom prst="rect">
            <a:avLst/>
          </a:prstGeom>
        </p:spPr>
        <p:txBody>
          <a:bodyPr/>
          <a:lstStyle/>
          <a:p>
            <a:endParaRPr/>
          </a:p>
        </p:txBody>
      </p:sp>
      <p:sp>
        <p:nvSpPr>
          <p:cNvPr id="222" name="Shape 22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171450" latinLnBrk="0">
      <a:lnSpc>
        <a:spcPct val="117999"/>
      </a:lnSpc>
      <a:defRPr sz="825">
        <a:latin typeface="Source Sans 3 Regular"/>
        <a:ea typeface="Source Sans 3 Regular"/>
        <a:cs typeface="Source Sans 3 Regular"/>
        <a:sym typeface="Source Sans 3 Regular"/>
      </a:defRPr>
    </a:lvl1pPr>
    <a:lvl2pPr indent="85725" defTabSz="171450" latinLnBrk="0">
      <a:lnSpc>
        <a:spcPct val="117999"/>
      </a:lnSpc>
      <a:defRPr sz="825">
        <a:latin typeface="Source Sans 3 Regular"/>
        <a:ea typeface="Source Sans 3 Regular"/>
        <a:cs typeface="Source Sans 3 Regular"/>
        <a:sym typeface="Source Sans 3 Regular"/>
      </a:defRPr>
    </a:lvl2pPr>
    <a:lvl3pPr indent="171450" defTabSz="171450" latinLnBrk="0">
      <a:lnSpc>
        <a:spcPct val="117999"/>
      </a:lnSpc>
      <a:defRPr sz="825">
        <a:latin typeface="Source Sans 3 Regular"/>
        <a:ea typeface="Source Sans 3 Regular"/>
        <a:cs typeface="Source Sans 3 Regular"/>
        <a:sym typeface="Source Sans 3 Regular"/>
      </a:defRPr>
    </a:lvl3pPr>
    <a:lvl4pPr indent="257175" defTabSz="171450" latinLnBrk="0">
      <a:lnSpc>
        <a:spcPct val="117999"/>
      </a:lnSpc>
      <a:defRPr sz="825">
        <a:latin typeface="Source Sans 3 Regular"/>
        <a:ea typeface="Source Sans 3 Regular"/>
        <a:cs typeface="Source Sans 3 Regular"/>
        <a:sym typeface="Source Sans 3 Regular"/>
      </a:defRPr>
    </a:lvl4pPr>
    <a:lvl5pPr indent="342900" defTabSz="171450" latinLnBrk="0">
      <a:lnSpc>
        <a:spcPct val="117999"/>
      </a:lnSpc>
      <a:defRPr sz="825">
        <a:latin typeface="Source Sans 3 Regular"/>
        <a:ea typeface="Source Sans 3 Regular"/>
        <a:cs typeface="Source Sans 3 Regular"/>
        <a:sym typeface="Source Sans 3 Regular"/>
      </a:defRPr>
    </a:lvl5pPr>
    <a:lvl6pPr indent="428625" defTabSz="171450" latinLnBrk="0">
      <a:lnSpc>
        <a:spcPct val="117999"/>
      </a:lnSpc>
      <a:defRPr sz="825">
        <a:latin typeface="Source Sans 3 Regular"/>
        <a:ea typeface="Source Sans 3 Regular"/>
        <a:cs typeface="Source Sans 3 Regular"/>
        <a:sym typeface="Source Sans 3 Regular"/>
      </a:defRPr>
    </a:lvl6pPr>
    <a:lvl7pPr indent="514350" defTabSz="171450" latinLnBrk="0">
      <a:lnSpc>
        <a:spcPct val="117999"/>
      </a:lnSpc>
      <a:defRPr sz="825">
        <a:latin typeface="Source Sans 3 Regular"/>
        <a:ea typeface="Source Sans 3 Regular"/>
        <a:cs typeface="Source Sans 3 Regular"/>
        <a:sym typeface="Source Sans 3 Regular"/>
      </a:defRPr>
    </a:lvl7pPr>
    <a:lvl8pPr indent="600075" defTabSz="171450" latinLnBrk="0">
      <a:lnSpc>
        <a:spcPct val="117999"/>
      </a:lnSpc>
      <a:defRPr sz="825">
        <a:latin typeface="Source Sans 3 Regular"/>
        <a:ea typeface="Source Sans 3 Regular"/>
        <a:cs typeface="Source Sans 3 Regular"/>
        <a:sym typeface="Source Sans 3 Regular"/>
      </a:defRPr>
    </a:lvl8pPr>
    <a:lvl9pPr indent="685800" defTabSz="171450" latinLnBrk="0">
      <a:lnSpc>
        <a:spcPct val="117999"/>
      </a:lnSpc>
      <a:defRPr sz="825">
        <a:latin typeface="Source Sans 3 Regular"/>
        <a:ea typeface="Source Sans 3 Regular"/>
        <a:cs typeface="Source Sans 3 Regular"/>
        <a:sym typeface="Source Sans 3 Regular"/>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google.com/search?q=pangram&amp;oq=The+quick+brown+++++++++jumps+over+the+lazy+dog&amp;gs_lcrp=EgZjaHJvbWUyBggAEEUYOdIBBzY5OWowajeoAgCwAgA&amp;sourceid=chrome&amp;ie=UTF-8&amp;ved=2ahUKEwjPtvGezqKSAxWhDzQIHdSfLP8QgK4QegYIAQgAEAQ"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Hi everyone. My name is Xingyu Chen, I am a fourth year PhD student from UC San Diego. I will present our research on "From Bits to Tokens: Knowledge-Driven Generative Communication of Multimodal Data."</a:t>
            </a:r>
            <a:endParaRPr lang="en-US"/>
          </a:p>
        </p:txBody>
      </p:sp>
    </p:spTree>
    <p:extLst>
      <p:ext uri="{BB962C8B-B14F-4D97-AF65-F5344CB8AC3E}">
        <ns2:creationId val="1148445899"/>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the past few decades, our communication networks were designed with humans as the dominant consumers. Whether it is live streaming, video conferencing, or web browsing, the end goal has been human perceptual fidelity.</a:t>
            </a:r>
            <a:endParaRPr lang="en-US"/>
          </a:p>
          <a:p>
            <a:r>
              <a:rPr lang="en-US"/>
              <a:t>But we are now entering a new era for AI. The primary consumers of network bandwidth are no longer humans, but machine decision-makers. In autonomous driving, drone control, and industrial robotics, sensors capture data not for humans to watch, but for AI to make decisions and take actions. The problem is that our current communication infrastructure has not caught up with this shift.</a:t>
            </a:r>
            <a:endParaRPr lang="en-US"/>
          </a:p>
        </p:txBody>
      </p:sp>
    </p:spTree>
    <p:extLst>
      <p:ext uri="{BB962C8B-B14F-4D97-AF65-F5344CB8AC3E}">
        <ns2:creationId val="2590136321"/>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Today's wireless networks, such as 5G and WiFi, are built on Shannon's paradigm: they optimize for bit-level fidelity and minimize bit error rate.</a:t>
            </a:r>
            <a:endParaRPr lang="en-US"/>
          </a:p>
          <a:p>
            <a:r>
              <a:rPr lang="en-US"/>
              <a:t>But many applications do not care about every single bit. They care about task performance: can I detect the pedestrian? Can I segment the road?</a:t>
            </a:r>
            <a:endParaRPr lang="en-US"/>
          </a:p>
        </p:txBody>
      </p:sp>
    </p:spTree>
    <p:extLst>
      <p:ext uri="{BB962C8B-B14F-4D97-AF65-F5344CB8AC3E}">
        <ns2:creationId val="1520655500"/>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This creates a fundamental mismatch. When packets are lost due to fading or interference, retransmission can recover the bits, but it adds latency. For real-time applications, this latency is unacceptable.</a:t>
            </a:r>
            <a:endParaRPr lang="en-US"/>
          </a:p>
          <a:p>
            <a:r>
              <a:rPr lang="en-US"/>
              <a:t>So my core research question is: if the receiver is an AI model, do we really need to recover every single bit to understand the semantic meaning?</a:t>
            </a:r>
            <a:endParaRPr lang="en-US"/>
          </a:p>
        </p:txBody>
      </p:sp>
    </p:spTree>
    <p:extLst>
      <p:ext uri="{BB962C8B-B14F-4D97-AF65-F5344CB8AC3E}">
        <ns2:creationId val="2042811422"/>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We propose Knowledge Driven Communication. The core idea is: transmit knowledge, not data.</a:t>
            </a:r>
            <a:endParaRPr lang="en-US"/>
          </a:p>
          <a:p>
            <a:r>
              <a:rPr lang="en-US"/>
              <a:t>Look at this sentence: "The quick brown [blank] jumps over the lazy dog." Even though the word is lost, you know it is "fox." You do not need the exact bits to understand the meaning, because you already have knowledge of English and this common phrase.</a:t>
            </a:r>
            <a:endParaRPr lang="en-US"/>
          </a:p>
        </p:txBody>
      </p:sp>
    </p:spTree>
    <p:extLst>
      <p:ext uri="{BB962C8B-B14F-4D97-AF65-F5344CB8AC3E}">
        <ns2:creationId val="4237580278"/>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This is like a conversation between two people. The receiver has accumulated knowledge. For example, she knows her daughter's voice, or what Snoopy looks like.</a:t>
            </a:r>
            <a:endParaRPr lang="en-US"/>
          </a:p>
          <a:p>
            <a:r>
              <a:rPr lang="en-US"/>
              <a:t>So the transmitter only needs to send fresh knowledge. The receiver combines both to restore the reality.</a:t>
            </a:r>
            <a:endParaRPr lang="en-US"/>
          </a:p>
        </p:txBody>
      </p:sp>
    </p:spTree>
    <p:extLst>
      <p:ext uri="{BB962C8B-B14F-4D97-AF65-F5344CB8AC3E}">
        <ns2:creationId val="2307991495"/>
      </p:ext>
    </p:extLst>
  </p:cSld>
  <p:clrMapOvr>
    <a:masterClrMapping/>
  </p:clrMapOvr>
</p:notes>
</file>

<file path=ppt/notesSlides/notesSlide7.xml><?xml version="1.0" encoding="utf-8"?>
<p:notes xmlns:a="http://schemas.openxmlformats.org/drawingml/2006/main" xmlns:ns2="http://schemas.microsoft.com/office/drawing/2014/main" xmlns:ns3="http://schemas.microsoft.com/office/powerpoint/2010/main" xmlns:p="http://schemas.openxmlformats.org/presentationml/2006/main">
  <p:cSld>
    <p:spTree>
      <p:nvGrpSpPr>
        <p:cNvPr id="1" name="">
          <a:extLst>
            <a:ext uri="{FF2B5EF4-FFF2-40B4-BE49-F238E27FC236}">
              <ns2:creationId id="{3AAE3A9E-60F8-82AB-B4F9-72A71828097A}"/>
            </a:ext>
          </a:extLst>
        </p:cNvPr>
        <p:cNvGrpSpPr/>
        <p:nvPr/>
      </p:nvGrpSpPr>
      <p:grpSpPr>
        <a:xfrm>
          <a:off x="0" y="0"/>
          <a:ext cx="0" cy="0"/>
          <a:chOff x="0" y="0"/>
          <a:chExt cx="0" cy="0"/>
        </a:xfrm>
      </p:grpSpPr>
      <p:sp>
        <p:nvSpPr>
          <p:cNvPr id="2" name="Slide Image Placeholder 1">
            <a:extLst>
              <a:ext uri="{FF2B5EF4-FFF2-40B4-BE49-F238E27FC236}">
                <ns2:creationId id="{5C6CDCFC-B652-36AD-9FF9-E0E26D30FF59}"/>
              </a:ext>
            </a:extLst>
          </p:cNvPr>
          <p:cNvSpPr>
            <a:spLocks noGrp="1" noRot="1" noChangeAspect="1"/>
          </p:cNvSpPr>
          <p:nvPr>
            <p:ph type="sldImg"/>
          </p:nvPr>
        </p:nvSpPr>
        <p:spPr/>
      </p:sp>
      <p:sp>
        <p:nvSpPr>
          <p:cNvPr id="3" name="Notes Placeholder 2">
            <a:extLst>
              <a:ext uri="{FF2B5EF4-FFF2-40B4-BE49-F238E27FC236}">
                <ns2:creationId id="{5BB93B69-28B1-0C3B-2A2F-85B2A27C6DD6}"/>
              </a:ext>
            </a:extLst>
          </p:cNvPr>
          <p:cNvSpPr>
            <a:spLocks noGrp="1"/>
          </p:cNvSpPr>
          <p:nvPr>
            <p:ph type="body" idx="1"/>
          </p:nvPr>
        </p:nvSpPr>
        <p:spPr/>
        <p:txBody>
          <a:bodyPr/>
          <a:lstStyle/>
          <a:p>
            <a:r>
              <a:rPr lang="en-US"/>
              <a:t>Here is the high-level architecture. The transmitter converts multimodal sensor data into tokens guided by the task prompt. These tokens are transmitted through the wireless channel. On the receiver side, an LLM or operator retrieves relevant knowledge from the knowledge base and uses it to guide restoration.</a:t>
            </a:r>
            <a:endParaRPr lang="en-US"/>
          </a:p>
          <a:p>
            <a:r>
              <a:rPr lang="en-US"/>
              <a:t>The important point is that communication is no longer only between encoder and decoder; it is between encoder, decoder, task, and accumulated knowledge.</a:t>
            </a:r>
            <a:endParaRPr lang="en-US"/>
          </a:p>
        </p:txBody>
      </p:sp>
    </p:spTree>
    <p:extLst>
      <p:ext uri="{BB962C8B-B14F-4D97-AF65-F5344CB8AC3E}">
        <ns3:creationId val="2816501823"/>
      </p:ext>
    </p:extLst>
  </p:cSld>
  <p:clrMapOvr>
    <a:masterClrMapping/>
  </p:clrMapOvr>
</p:notes>
</file>

<file path=ppt/notesSlides/notesSlide8.xml><?xml version="1.0" encoding="utf-8"?>
<p:notes xmlns:a="http://schemas.openxmlformats.org/drawingml/2006/main" xmlns:ns2="http://schemas.microsoft.com/office/drawing/2014/main" xmlns:ns3="http://schemas.microsoft.com/office/powerpoint/2010/main" xmlns:p="http://schemas.openxmlformats.org/presentationml/2006/main">
  <p:cSld>
    <p:spTree>
      <p:nvGrpSpPr>
        <p:cNvPr id="1" name="">
          <a:extLst>
            <a:ext uri="{FF2B5EF4-FFF2-40B4-BE49-F238E27FC236}">
              <ns2:creationId id="{F5B85752-241B-9E98-1AD4-621BB3A63CAB}"/>
            </a:ext>
          </a:extLst>
        </p:cNvPr>
        <p:cNvGrpSpPr/>
        <p:nvPr/>
      </p:nvGrpSpPr>
      <p:grpSpPr>
        <a:xfrm>
          <a:off x="0" y="0"/>
          <a:ext cx="0" cy="0"/>
          <a:chOff x="0" y="0"/>
          <a:chExt cx="0" cy="0"/>
        </a:xfrm>
      </p:grpSpPr>
      <p:sp>
        <p:nvSpPr>
          <p:cNvPr id="2" name="Slide Image Placeholder 1">
            <a:extLst>
              <a:ext uri="{FF2B5EF4-FFF2-40B4-BE49-F238E27FC236}">
                <ns2:creationId id="{28217E8A-CCFF-C09A-5710-8C70630AC72C}"/>
              </a:ext>
            </a:extLst>
          </p:cNvPr>
          <p:cNvSpPr>
            <a:spLocks noGrp="1" noRot="1" noChangeAspect="1"/>
          </p:cNvSpPr>
          <p:nvPr>
            <p:ph type="sldImg"/>
          </p:nvPr>
        </p:nvSpPr>
        <p:spPr/>
      </p:sp>
      <p:sp>
        <p:nvSpPr>
          <p:cNvPr id="3" name="Notes Placeholder 2">
            <a:extLst>
              <a:ext uri="{FF2B5EF4-FFF2-40B4-BE49-F238E27FC236}">
                <ns2:creationId id="{7B5B18B4-0A17-8D27-4BFC-9DE416F460B6}"/>
              </a:ext>
            </a:extLst>
          </p:cNvPr>
          <p:cNvSpPr>
            <a:spLocks noGrp="1"/>
          </p:cNvSpPr>
          <p:nvPr>
            <p:ph type="body" idx="1"/>
          </p:nvPr>
        </p:nvSpPr>
        <p:spPr/>
        <p:txBody>
          <a:bodyPr/>
          <a:lstStyle/>
          <a:p>
            <a:r>
              <a:rPr lang="en-US"/>
              <a:t>Let's look at the transmitter. We handle many inputs: image, video, volume, and point clouds. We use patch tokenizers from corresponding foundation models to convert data into a grid of tokens.</a:t>
            </a:r>
            <a:endParaRPr lang="en-US"/>
          </a:p>
          <a:p>
            <a:r>
              <a:rPr lang="en-US"/>
              <a:t>This lets us unify different types of sensor data as long as there is a corresponding tokenizer. It also allows zero-shot task adaptation. In the top image, the task is baby monitoring, so the focus is on the crib. In the bottom image, the task is pet monitoring, so the focus shifts to the dog. We do not need to retrain the neural network.</a:t>
            </a:r>
            <a:endParaRPr lang="en-US"/>
          </a:p>
        </p:txBody>
      </p:sp>
    </p:spTree>
    <p:extLst>
      <p:ext uri="{BB962C8B-B14F-4D97-AF65-F5344CB8AC3E}">
        <ns3:creationId val="1217094740"/>
      </p:ext>
    </p:extLst>
  </p:cSld>
  <p:clrMapOvr>
    <a:masterClrMapping/>
  </p:clrMapOvr>
</p:notes>
</file>

<file path=ppt/notesSlides/notesSlide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The receiver gets a token stream that is partially lost. The crosses on the left are dropped tokens. Instead of asking for retransmission, it reconstructs them.</a:t>
            </a:r>
            <a:endParaRPr lang="en-US"/>
          </a:p>
          <a:p>
            <a:r>
              <a:rPr lang="en-US"/>
              <a:t>The trick is on the bottom path: the knowledge base retrieves context relevant to this scene, such as road, car, or vegetation. That context is fed through FiLM layers that modulate the restoration network at every scale. So the network is not hallucinating freely; it is generating conditioned on what we already know about the scene.</a:t>
            </a:r>
            <a:endParaRPr lang="en-US"/>
          </a:p>
          <a:p>
            <a:r>
              <a:rPr lang="en-US"/>
              <a:t>The restored data then flows back into the knowledge base, so the receiver gets smarter the longer it runs.</a:t>
            </a:r>
            <a:endParaRPr lang="en-US"/>
          </a:p>
        </p:txBody>
      </p:sp>
    </p:spTree>
    <p:extLst>
      <p:ext uri="{BB962C8B-B14F-4D97-AF65-F5344CB8AC3E}">
        <ns2:creationId val="959311809"/>
      </p:ext>
    </p:extLst>
  </p:cSld>
  <p:clrMapOvr>
    <a:masterClrMapping/>
  </p:clrMapOvr>
</p:notes>
</file>

<file path=ppt/notesSlides/notesSlide1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This creates a positive feedback loop. High-confidence decoded frames are stored in the knowledge base. The more the receiver sees, the more context it has, and the less data it needs to receive to achieve the desired performance.</a:t>
            </a:r>
            <a:endParaRPr lang="en-US"/>
          </a:p>
          <a:p>
            <a:r>
              <a:rPr lang="en-US"/>
              <a:t>This also enables early exit, where the receiver can stop listening once confidence is high, saving latency.</a:t>
            </a:r>
            <a:endParaRPr lang="en-US"/>
          </a:p>
        </p:txBody>
      </p:sp>
    </p:spTree>
    <p:extLst>
      <p:ext uri="{BB962C8B-B14F-4D97-AF65-F5344CB8AC3E}">
        <ns2:creationId val="3184275376"/>
      </p:ext>
    </p:extLst>
  </p:cSld>
  <p:clrMapOvr>
    <a:masterClrMapping/>
  </p:clrMapOvr>
</p:notes>
</file>

<file path=ppt/notesSlides/notesSlide1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When the channel gets bad, with packet loss above ten percent, pixel-based codecs collapse to near zero, while KDC holds roughly three times their task accuracy.</a:t>
            </a:r>
            <a:endParaRPr lang="en-US"/>
          </a:p>
          <a:p>
            <a:r>
              <a:rPr lang="en-US"/>
              <a:t>And when the channel is fine but the budget is tight, KDC reaches the same accuracy with about half the bytes. Image, radar, and LiDAR results follow the same pattern and are included in the paper.</a:t>
            </a:r>
            <a:endParaRPr lang="en-US"/>
          </a:p>
        </p:txBody>
      </p:sp>
    </p:spTree>
    <p:extLst>
      <p:ext uri="{BB962C8B-B14F-4D97-AF65-F5344CB8AC3E}">
        <ns2:creationId val="2426386108"/>
      </p:ext>
    </p:extLst>
  </p:cSld>
  <p:clrMapOvr>
    <a:masterClrMapping/>
  </p:clrMapOvr>
</p:notes>
</file>

<file path=ppt/notesSlides/notesSlide1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To make KDC practical on real hardware and applications, we need to consider efficiency and latency. We implemented the system using a parallel pipeline structure.</a:t>
            </a:r>
            <a:endParaRPr lang="en-US"/>
          </a:p>
          <a:p>
            <a:r>
              <a:rPr lang="en-US"/>
              <a:t>KDC processing, encoding, and transmission run as producer-consumer stages. The per-frame KDC operations are stateless, so they can be parallelized. We also cache masks for similar frames. As a result, we achieve 32 FPS at 1080p on an edge device, and over 100 FPS on a laptop with an RTX 4080 GPU.</a:t>
            </a:r>
            <a:endParaRPr lang="en-US"/>
          </a:p>
        </p:txBody>
      </p:sp>
    </p:spTree>
    <p:extLst>
      <p:ext uri="{BB962C8B-B14F-4D97-AF65-F5344CB8AC3E}">
        <ns2:creationId val="1010487174"/>
      </p:ext>
    </p:extLst>
  </p:cSld>
  <p:clrMapOvr>
    <a:masterClrMapping/>
  </p:clrMapOvr>
</p:notes>
</file>

<file path=ppt/notesSlides/notesSlide1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To conclude, KDC represents three major contributions. First, it is a paradigm shift: using tokens as the basic transmission unit instead of bits. Second, it provides a system realization of knowledge-driven communication. Third, it is general and practical, demonstrated across multiple modalities and protocols with real-time performance.</a:t>
            </a:r>
            <a:endParaRPr lang="en-US"/>
          </a:p>
        </p:txBody>
      </p:sp>
    </p:spTree>
    <p:extLst>
      <p:ext uri="{BB962C8B-B14F-4D97-AF65-F5344CB8AC3E}">
        <ns2:creationId val="1365284274"/>
      </p:ext>
    </p:extLst>
  </p:cSld>
  <p:clrMapOvr>
    <a:masterClrMapping/>
  </p:clrMapOvr>
</p:notes>
</file>

<file path=ppt/notesSlides/notesSlide1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Thank you. I am happy to take any questions.</a:t>
            </a:r>
            <a:endParaRPr lang="en-US"/>
          </a:p>
        </p:txBody>
      </p:sp>
    </p:spTree>
    <p:extLst>
      <p:ext uri="{BB962C8B-B14F-4D97-AF65-F5344CB8AC3E}">
        <ns2:creationId val="237766667"/>
      </p:ext>
    </p:extLst>
  </p:cSld>
  <p:clrMapOvr>
    <a:masterClrMapping/>
  </p:clrMapOvr>
</p:notes>
</file>

<file path=ppt/notesSlides/notesSlide1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Looking forward, we see a path from data-driven to knowledge-driven, and eventually to reasoning-driven networks. Future wireless networks will not just move data; they will be AI-native systems with generalizable intelligence, able to perform logic and causal reasoning to further optimize how machines communicate.</a:t>
            </a:r>
            <a:endParaRPr lang="en-US"/>
          </a:p>
        </p:txBody>
      </p:sp>
    </p:spTree>
    <p:extLst>
      <p:ext uri="{BB962C8B-B14F-4D97-AF65-F5344CB8AC3E}">
        <ns2:creationId val="3419710325"/>
      </p:ext>
    </p:extLst>
  </p:cSld>
  <p:clrMapOvr>
    <a:masterClrMapping/>
  </p:clrMapOvr>
</p:notes>
</file>

<file path=ppt/notesSlides/notesSlide1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This intuition motivates our system design. Instead of treating communication as a problem of perfectly reconstructing raw data, we treat it as a problem of delivering the new information that the receiver actually needs.</a:t>
            </a:r>
            <a:endParaRPr lang="en-US"/>
          </a:p>
          <a:p>
            <a:r>
              <a:rPr lang="en-US"/>
              <a:t>If the receiver already has relevant context, then the transmitter can focus on sending compact semantic tokens. The receiver can combine those tokens with its own knowledge to recover what matters for the downstream task.</a:t>
            </a:r>
            <a:endParaRPr lang="en-US"/>
          </a:p>
        </p:txBody>
      </p:sp>
    </p:spTree>
    <p:extLst>
      <p:ext uri="{BB962C8B-B14F-4D97-AF65-F5344CB8AC3E}">
        <ns2:creationId val="1148445899"/>
      </p:ext>
    </p:extLst>
  </p:cSld>
  <p:clrMapOvr>
    <a:masterClrMapping/>
  </p:clrMapOvr>
</p:notes>
</file>

<file path=ppt/notesSlides/notesSlide1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A key design goal is practicality. We do not want to replace existing codecs or hardware accelerators. Instead, KDC works as a wrapper before standard encoders such as JPEG or H.264.</a:t>
            </a:r>
            <a:endParaRPr lang="en-US"/>
          </a:p>
          <a:p>
            <a:r>
              <a:rPr lang="en-US"/>
              <a:t>The idea is semantic pre-quantization. For regions that are less important to the task, such as background, we aggressively reduce entropy before encoding. The standard codec then naturally assigns fewer bits to those regions, while preserving more detail in task-critical areas.</a:t>
            </a:r>
            <a:endParaRPr lang="en-US"/>
          </a:p>
          <a:p>
            <a:r>
              <a:rPr lang="en-US"/>
              <a:t>So the output is still a valid, standard-compliant bitstream, but it is optimized semantically rather than uniformly.</a:t>
            </a:r>
            <a:endParaRPr lang="en-US"/>
          </a:p>
        </p:txBody>
      </p:sp>
    </p:spTree>
    <p:extLst>
      <p:ext uri="{BB962C8B-B14F-4D97-AF65-F5344CB8AC3E}">
        <ns2:creationId val="1148445899"/>
      </p:ext>
    </p:extLst>
  </p:cSld>
  <p:clrMapOvr>
    <a:masterClrMapping/>
  </p:clrMapOvr>
</p:notes>
</file>

<file path=ppt/notesSlides/notesSlide1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We evaluate KDC across multiple modalities and wireless protocols. For image and video, we test over 5G cellular networks. For radar, we test over WiFi. For LiDAR, we use LoRa with USRP N310, which represents a long-range, low-power wireless setting.</a:t>
            </a:r>
            <a:endParaRPr lang="en-US"/>
          </a:p>
          <a:p>
            <a:r>
              <a:rPr lang="en-US"/>
              <a:t>The goal is to show that this is not a single-modality trick. KDC should work whenever the receiver can use task knowledge and accumulated context to recover the information that matters.</a:t>
            </a:r>
            <a:endParaRPr lang="en-US"/>
          </a:p>
        </p:txBody>
      </p:sp>
    </p:spTree>
    <p:extLst>
      <p:ext uri="{BB962C8B-B14F-4D97-AF65-F5344CB8AC3E}">
        <ns2:creationId val="11484458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p:bg>
      <p:bgPr>
        <a:solidFill>
          <a:schemeClr val="tx1"/>
        </a:solidFill>
        <a:effectLst/>
      </p:bgPr>
    </p:bg>
    <p:spTree>
      <p:nvGrpSpPr>
        <p:cNvPr id="1" name=""/>
        <p:cNvGrpSpPr/>
        <p:nvPr/>
      </p:nvGrpSpPr>
      <p:grpSpPr>
        <a:xfrm>
          <a:off x="0" y="0"/>
          <a:ext cx="0" cy="0"/>
          <a:chOff x="0" y="0"/>
          <a:chExt cx="0" cy="0"/>
        </a:xfrm>
      </p:grpSpPr>
      <p:pic>
        <p:nvPicPr>
          <p:cNvPr id="12" name="UCSD-BrandRefresh-PPTBackgrounds-v4_Blues-NotchTop.png" descr="UCSD-BrandRefresh-PPTBackgrounds-v4_Blues-NotchTop.png"/>
          <p:cNvPicPr>
            <a:picLocks noChangeAspect="1"/>
          </p:cNvPicPr>
          <p:nvPr/>
        </p:nvPicPr>
        <p:blipFill>
          <a:blip r:embed="rId2"/>
          <a:srcRect t="26" b="26"/>
          <a:stretch>
            <a:fillRect/>
          </a:stretch>
        </p:blipFill>
        <p:spPr>
          <a:xfrm>
            <a:off x="1850" y="0"/>
            <a:ext cx="9140300" cy="5143500"/>
          </a:xfrm>
          <a:prstGeom prst="rect">
            <a:avLst/>
          </a:prstGeom>
          <a:ln w="12700">
            <a:miter lim="400000"/>
          </a:ln>
        </p:spPr>
      </p:pic>
      <p:sp>
        <p:nvSpPr>
          <p:cNvPr id="13" name="UCSanDiegoLogo-White.png"/>
          <p:cNvSpPr>
            <a:spLocks noGrp="1"/>
          </p:cNvSpPr>
          <p:nvPr>
            <p:ph type="pic" sz="quarter" idx="21" hasCustomPrompt="1"/>
          </p:nvPr>
        </p:nvSpPr>
        <p:spPr>
          <a:xfrm>
            <a:off x="6819843" y="286172"/>
            <a:ext cx="2009775" cy="382258"/>
          </a:xfrm>
          <a:prstGeom prst="rect">
            <a:avLst/>
          </a:prstGeom>
        </p:spPr>
        <p:txBody>
          <a:bodyPr lIns="91439" tIns="45719" rIns="91439" bIns="45719" anchor="t">
            <a:noAutofit/>
          </a:bodyPr>
          <a:lstStyle>
            <a:lvl1pPr marL="0" indent="0" algn="ctr">
              <a:buNone/>
              <a:defRPr>
                <a:solidFill>
                  <a:schemeClr val="bg1"/>
                </a:solidFill>
              </a:defRPr>
            </a:lvl1pPr>
          </a:lstStyle>
          <a:p>
            <a:r>
              <a:rPr lang="en-US" dirty="0"/>
              <a:t>LOGO</a:t>
            </a:r>
            <a:endParaRPr dirty="0"/>
          </a:p>
        </p:txBody>
      </p:sp>
      <p:sp>
        <p:nvSpPr>
          <p:cNvPr id="14" name="Author and Date"/>
          <p:cNvSpPr txBox="1">
            <a:spLocks noGrp="1"/>
          </p:cNvSpPr>
          <p:nvPr>
            <p:ph type="body" sz="quarter" idx="22" hasCustomPrompt="1"/>
          </p:nvPr>
        </p:nvSpPr>
        <p:spPr>
          <a:xfrm>
            <a:off x="457201" y="4447449"/>
            <a:ext cx="8229598" cy="238867"/>
          </a:xfrm>
          <a:prstGeom prst="rect">
            <a:avLst/>
          </a:prstGeom>
        </p:spPr>
        <p:txBody>
          <a:bodyPr lIns="0" tIns="0" rIns="0" bIns="0" anchor="t">
            <a:normAutofit/>
          </a:bodyPr>
          <a:lstStyle>
            <a:lvl1pPr marL="0" indent="0" algn="l" defTabSz="263128">
              <a:lnSpc>
                <a:spcPct val="100000"/>
              </a:lnSpc>
              <a:buNone/>
              <a:defRPr sz="1100">
                <a:solidFill>
                  <a:schemeClr val="bg1"/>
                </a:solidFill>
                <a:latin typeface="Source Sans 3 Regular"/>
                <a:ea typeface="Source Sans 3 Regular"/>
                <a:cs typeface="Source Sans 3 Regular"/>
                <a:sym typeface="Source Sans 3 Regular"/>
              </a:defRPr>
            </a:lvl1pPr>
          </a:lstStyle>
          <a:p>
            <a:r>
              <a:rPr dirty="0"/>
              <a:t>Author and Date</a:t>
            </a:r>
          </a:p>
        </p:txBody>
      </p:sp>
      <p:sp>
        <p:nvSpPr>
          <p:cNvPr id="16" name="Body Level One…"/>
          <p:cNvSpPr txBox="1">
            <a:spLocks noGrp="1"/>
          </p:cNvSpPr>
          <p:nvPr>
            <p:ph type="body" sz="quarter" idx="1" hasCustomPrompt="1"/>
          </p:nvPr>
        </p:nvSpPr>
        <p:spPr>
          <a:xfrm>
            <a:off x="457200" y="2782661"/>
            <a:ext cx="8229600" cy="714375"/>
          </a:xfrm>
          <a:prstGeom prst="rect">
            <a:avLst/>
          </a:prstGeom>
        </p:spPr>
        <p:txBody>
          <a:bodyPr anchor="t">
            <a:normAutofit/>
          </a:bodyPr>
          <a:lstStyle>
            <a:lvl1pPr marL="0" indent="0" algn="l" defTabSz="309563">
              <a:lnSpc>
                <a:spcPct val="100000"/>
              </a:lnSpc>
              <a:buNone/>
              <a:defRPr sz="1800">
                <a:solidFill>
                  <a:schemeClr val="bg1"/>
                </a:solidFill>
                <a:latin typeface="Source Sans 3 Regular"/>
                <a:ea typeface="Source Sans 3 Regular"/>
                <a:cs typeface="Source Sans 3 Regular"/>
                <a:sym typeface="Source Sans 3 Regular"/>
              </a:defRPr>
            </a:lvl1pPr>
            <a:lvl2pPr marL="228600" indent="0" algn="l" defTabSz="309563">
              <a:lnSpc>
                <a:spcPct val="100000"/>
              </a:lnSpc>
              <a:buNone/>
              <a:defRPr sz="1875">
                <a:solidFill>
                  <a:schemeClr val="bg1"/>
                </a:solidFill>
                <a:latin typeface="Source Sans 3 Regular"/>
                <a:ea typeface="Source Sans 3 Regular"/>
                <a:cs typeface="Source Sans 3 Regular"/>
                <a:sym typeface="Source Sans 3 Regular"/>
              </a:defRPr>
            </a:lvl2pPr>
            <a:lvl3pPr marL="457200" indent="0" algn="l" defTabSz="309563">
              <a:lnSpc>
                <a:spcPct val="100000"/>
              </a:lnSpc>
              <a:buNone/>
              <a:defRPr sz="1875">
                <a:latin typeface="Source Sans 3 Regular"/>
                <a:ea typeface="Source Sans 3 Regular"/>
                <a:cs typeface="Source Sans 3 Regular"/>
                <a:sym typeface="Source Sans 3 Regular"/>
              </a:defRPr>
            </a:lvl3pPr>
            <a:lvl4pPr marL="685800" indent="0" algn="l" defTabSz="309563">
              <a:lnSpc>
                <a:spcPct val="100000"/>
              </a:lnSpc>
              <a:buNone/>
              <a:defRPr sz="1875">
                <a:latin typeface="Source Sans 3 Regular"/>
                <a:ea typeface="Source Sans 3 Regular"/>
                <a:cs typeface="Source Sans 3 Regular"/>
                <a:sym typeface="Source Sans 3 Regular"/>
              </a:defRPr>
            </a:lvl4pPr>
            <a:lvl5pPr marL="914400" indent="0" algn="l" defTabSz="309563">
              <a:lnSpc>
                <a:spcPct val="100000"/>
              </a:lnSpc>
              <a:buNone/>
              <a:defRPr sz="1875">
                <a:solidFill>
                  <a:schemeClr val="bg1"/>
                </a:solidFill>
                <a:latin typeface="Source Sans 3 Regular"/>
                <a:ea typeface="Source Sans 3 Regular"/>
                <a:cs typeface="Source Sans 3 Regular"/>
                <a:sym typeface="Source Sans 3 Regular"/>
              </a:defRPr>
            </a:lvl5pPr>
          </a:lstStyle>
          <a:p>
            <a:r>
              <a:rPr dirty="0"/>
              <a:t>Presentation Subtitl</a:t>
            </a:r>
            <a:r>
              <a:rPr lang="en-US" dirty="0"/>
              <a:t>e</a:t>
            </a:r>
            <a:endParaRPr dirty="0"/>
          </a:p>
        </p:txBody>
      </p:sp>
      <p:sp>
        <p:nvSpPr>
          <p:cNvPr id="15" name="Presentation Title"/>
          <p:cNvSpPr txBox="1">
            <a:spLocks noGrp="1"/>
          </p:cNvSpPr>
          <p:nvPr>
            <p:ph type="title" hasCustomPrompt="1"/>
          </p:nvPr>
        </p:nvSpPr>
        <p:spPr>
          <a:xfrm>
            <a:off x="457200" y="1057275"/>
            <a:ext cx="8229599" cy="1711938"/>
          </a:xfrm>
          <a:prstGeom prst="rect">
            <a:avLst/>
          </a:prstGeom>
        </p:spPr>
        <p:txBody>
          <a:bodyPr lIns="0" tIns="0" rIns="0" bIns="0" anchor="b">
            <a:normAutofit/>
          </a:bodyPr>
          <a:lstStyle>
            <a:lvl1pPr>
              <a:defRPr sz="4900">
                <a:solidFill>
                  <a:srgbClr val="FFFFFF"/>
                </a:solidFill>
              </a:defRPr>
            </a:lvl1pPr>
          </a:lstStyle>
          <a:p>
            <a:r>
              <a:rPr dirty="0"/>
              <a:t>Presentation Title</a:t>
            </a:r>
          </a:p>
        </p:txBody>
      </p:sp>
    </p:spTree>
  </p:cSld>
  <p:clrMapOvr>
    <a:masterClrMapping/>
  </p:clrMapOvr>
  <p:transition spd="med"/>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mp;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30B93-35AA-47C1-BC59-13DFC7F6473B}"/>
              </a:ext>
            </a:extLst>
          </p:cNvPr>
          <p:cNvSpPr>
            <a:spLocks noGrp="1"/>
          </p:cNvSpPr>
          <p:nvPr>
            <p:ph type="title"/>
          </p:nvPr>
        </p:nvSpPr>
        <p:spPr/>
        <p:txBody>
          <a:bodyPr/>
          <a:lstStyle/>
          <a:p>
            <a:endParaRPr lang="en-US" dirty="0"/>
          </a:p>
        </p:txBody>
      </p:sp>
      <p:sp>
        <p:nvSpPr>
          <p:cNvPr id="10" name="Text Placeholder 11">
            <a:extLst>
              <a:ext uri="{FF2B5EF4-FFF2-40B4-BE49-F238E27FC236}">
                <a16:creationId xmlns:a16="http://schemas.microsoft.com/office/drawing/2014/main" id="{E1BE4795-2E63-448C-E789-737011D42C27}"/>
              </a:ext>
            </a:extLst>
          </p:cNvPr>
          <p:cNvSpPr>
            <a:spLocks noGrp="1"/>
          </p:cNvSpPr>
          <p:nvPr>
            <p:ph type="body" sz="quarter" idx="11" hasCustomPrompt="1"/>
          </p:nvPr>
        </p:nvSpPr>
        <p:spPr>
          <a:xfrm>
            <a:off x="457200" y="1300163"/>
            <a:ext cx="8229600" cy="3128962"/>
          </a:xfrm>
        </p:spPr>
        <p:txBody>
          <a:bodyPr/>
          <a:lstStyle/>
          <a:p>
            <a:pPr lvl="0"/>
            <a:r>
              <a:rPr lang="en-US" dirty="0"/>
              <a:t>Click to edit bulleted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8EFC921C-EE06-5F37-7579-94A37A66E0AE}"/>
              </a:ext>
            </a:extLst>
          </p:cNvPr>
          <p:cNvSpPr>
            <a:spLocks noGrp="1"/>
          </p:cNvSpPr>
          <p:nvPr>
            <p:ph type="ftr" sz="quarter" idx="12"/>
          </p:nvPr>
        </p:nvSpPr>
        <p:spPr/>
        <p:txBody>
          <a:bodyPr/>
          <a:lstStyle/>
          <a:p>
            <a:r>
              <a:rPr lang="en-US"/>
              <a:t>Blue Notch Template</a:t>
            </a:r>
            <a:endParaRPr lang="en-US" dirty="0"/>
          </a:p>
        </p:txBody>
      </p:sp>
      <p:sp>
        <p:nvSpPr>
          <p:cNvPr id="12" name="Slide Number Placeholder 11">
            <a:extLst>
              <a:ext uri="{FF2B5EF4-FFF2-40B4-BE49-F238E27FC236}">
                <a16:creationId xmlns:a16="http://schemas.microsoft.com/office/drawing/2014/main" id="{C5043182-23AB-DE81-0C05-063A6998443D}"/>
              </a:ext>
            </a:extLst>
          </p:cNvPr>
          <p:cNvSpPr>
            <a:spLocks noGrp="1"/>
          </p:cNvSpPr>
          <p:nvPr>
            <p:ph type="sldNum" sz="quarter" idx="13"/>
          </p:nvPr>
        </p:nvSpPr>
        <p:spPr/>
        <p:txBody>
          <a:bodyPr/>
          <a:lstStyle/>
          <a:p>
            <a:fld id="{10182D5C-5622-0748-8D9A-CE71C49FA208}" type="slidenum">
              <a:rPr lang="en-US" smtClean="0"/>
              <a:pPr/>
              <a:t>‹#›</a:t>
            </a:fld>
            <a:endParaRPr lang="en-US"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Photo RIgh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B23D4DA-0134-81F9-76AF-7977EAAF1B3B}"/>
              </a:ext>
            </a:extLst>
          </p:cNvPr>
          <p:cNvSpPr>
            <a:spLocks noGrp="1"/>
          </p:cNvSpPr>
          <p:nvPr>
            <p:ph type="pic" sz="quarter" idx="23"/>
          </p:nvPr>
        </p:nvSpPr>
        <p:spPr>
          <a:xfrm>
            <a:off x="4572000" y="0"/>
            <a:ext cx="4572000" cy="5143500"/>
          </a:xfrm>
        </p:spPr>
        <p:txBody>
          <a:bodyPr anchor="ctr" anchorCtr="0"/>
          <a:lstStyle>
            <a:lvl1pPr marL="0" indent="0" algn="ctr">
              <a:buNone/>
              <a:defRPr>
                <a:solidFill>
                  <a:schemeClr val="accent1"/>
                </a:solidFill>
              </a:defRPr>
            </a:lvl1pPr>
          </a:lstStyle>
          <a:p>
            <a:endParaRPr lang="en-US"/>
          </a:p>
        </p:txBody>
      </p:sp>
      <p:pic>
        <p:nvPicPr>
          <p:cNvPr id="12" name="UCSD-BrandRefresh-PPTBackgrounds-v4_Blues-NotchTopBottom.png" descr="UCSD-BrandRefresh-PPTBackgrounds-v4_Blues-NotchTopBottom.png">
            <a:extLst>
              <a:ext uri="{FF2B5EF4-FFF2-40B4-BE49-F238E27FC236}">
                <a16:creationId xmlns:a16="http://schemas.microsoft.com/office/drawing/2014/main" id="{D9EA6E96-2DCA-9905-082D-017703162283}"/>
              </a:ext>
            </a:extLst>
          </p:cNvPr>
          <p:cNvPicPr>
            <a:picLocks noChangeAspect="1"/>
          </p:cNvPicPr>
          <p:nvPr userDrawn="1"/>
        </p:nvPicPr>
        <p:blipFill>
          <a:blip r:embed="rId2"/>
          <a:stretch>
            <a:fillRect/>
          </a:stretch>
        </p:blipFill>
        <p:spPr>
          <a:xfrm>
            <a:off x="0" y="0"/>
            <a:ext cx="9148763" cy="5148263"/>
          </a:xfrm>
          <a:prstGeom prst="rect">
            <a:avLst/>
          </a:prstGeom>
          <a:ln w="12700">
            <a:miter lim="400000"/>
          </a:ln>
        </p:spPr>
      </p:pic>
      <p:pic>
        <p:nvPicPr>
          <p:cNvPr id="13" name="UCSanDiegoLogo-White.png">
            <a:extLst>
              <a:ext uri="{FF2B5EF4-FFF2-40B4-BE49-F238E27FC236}">
                <a16:creationId xmlns:a16="http://schemas.microsoft.com/office/drawing/2014/main" id="{94DA959D-AAFD-D5A2-C6B9-DC6C644EB36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538831" y="240172"/>
            <a:ext cx="1377806" cy="258338"/>
          </a:xfrm>
          <a:prstGeom prst="rect">
            <a:avLst/>
          </a:prstGeom>
          <a:ln w="12700">
            <a:miter lim="400000"/>
          </a:ln>
        </p:spPr>
      </p:pic>
      <p:sp>
        <p:nvSpPr>
          <p:cNvPr id="9" name="Text Placeholder 11">
            <a:extLst>
              <a:ext uri="{FF2B5EF4-FFF2-40B4-BE49-F238E27FC236}">
                <a16:creationId xmlns:a16="http://schemas.microsoft.com/office/drawing/2014/main" id="{0A4D55DE-E117-849E-C707-C13C3084573B}"/>
              </a:ext>
            </a:extLst>
          </p:cNvPr>
          <p:cNvSpPr>
            <a:spLocks noGrp="1"/>
          </p:cNvSpPr>
          <p:nvPr>
            <p:ph type="body" sz="quarter" idx="11" hasCustomPrompt="1"/>
          </p:nvPr>
        </p:nvSpPr>
        <p:spPr>
          <a:xfrm>
            <a:off x="457200" y="1300163"/>
            <a:ext cx="3657599" cy="3128962"/>
          </a:xfrm>
        </p:spPr>
        <p:txBody>
          <a:bodyPr/>
          <a:lstStyle/>
          <a:p>
            <a:pPr lvl="0"/>
            <a:r>
              <a:rPr lang="en-US" dirty="0"/>
              <a:t>Click to edit bulleted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0F1AD2FB-BAEB-5CBC-EF7F-7B679A3B48D3}"/>
              </a:ext>
            </a:extLst>
          </p:cNvPr>
          <p:cNvSpPr>
            <a:spLocks noGrp="1"/>
          </p:cNvSpPr>
          <p:nvPr>
            <p:ph type="title"/>
          </p:nvPr>
        </p:nvSpPr>
        <p:spPr>
          <a:xfrm>
            <a:off x="457200" y="404813"/>
            <a:ext cx="3657599" cy="653653"/>
          </a:xfrm>
        </p:spPr>
        <p:txBody>
          <a:bodyPr/>
          <a:lstStyle/>
          <a:p>
            <a:endParaRPr lang="en-US" dirty="0"/>
          </a:p>
        </p:txBody>
      </p:sp>
      <p:sp>
        <p:nvSpPr>
          <p:cNvPr id="14" name="Footer Placeholder 13">
            <a:extLst>
              <a:ext uri="{FF2B5EF4-FFF2-40B4-BE49-F238E27FC236}">
                <a16:creationId xmlns:a16="http://schemas.microsoft.com/office/drawing/2014/main" id="{90284990-C0DE-D5E6-1D98-7CA0FDD70CBB}"/>
              </a:ext>
            </a:extLst>
          </p:cNvPr>
          <p:cNvSpPr>
            <a:spLocks noGrp="1"/>
          </p:cNvSpPr>
          <p:nvPr>
            <p:ph type="ftr" sz="quarter" idx="24"/>
          </p:nvPr>
        </p:nvSpPr>
        <p:spPr/>
        <p:txBody>
          <a:bodyPr/>
          <a:lstStyle/>
          <a:p>
            <a:r>
              <a:rPr lang="en-US"/>
              <a:t>Blue Notch Template</a:t>
            </a:r>
            <a:endParaRPr lang="en-US" dirty="0"/>
          </a:p>
        </p:txBody>
      </p:sp>
      <p:sp>
        <p:nvSpPr>
          <p:cNvPr id="15" name="Slide Number Placeholder 14">
            <a:extLst>
              <a:ext uri="{FF2B5EF4-FFF2-40B4-BE49-F238E27FC236}">
                <a16:creationId xmlns:a16="http://schemas.microsoft.com/office/drawing/2014/main" id="{92497F74-0780-FBCA-C05D-E67FC676586B}"/>
              </a:ext>
            </a:extLst>
          </p:cNvPr>
          <p:cNvSpPr>
            <a:spLocks noGrp="1"/>
          </p:cNvSpPr>
          <p:nvPr>
            <p:ph type="sldNum" sz="quarter" idx="25"/>
          </p:nvPr>
        </p:nvSpPr>
        <p:spPr/>
        <p:txBody>
          <a:bodyPr/>
          <a:lstStyle/>
          <a:p>
            <a:fld id="{10182D5C-5622-0748-8D9A-CE71C49FA208}" type="slidenum">
              <a:rPr lang="en-US" smtClean="0"/>
              <a:pPr/>
              <a:t>‹#›</a:t>
            </a:fld>
            <a:endParaRPr lang="en-US"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UCSD-BrandRefresh-PPTBackgrounds-v4_Blues-NotchTopBottom.png" descr="UCSD-BrandRefresh-PPTBackgrounds-v4_Blues-NotchTopBottom.png">
            <a:extLst>
              <a:ext uri="{FF2B5EF4-FFF2-40B4-BE49-F238E27FC236}">
                <a16:creationId xmlns:a16="http://schemas.microsoft.com/office/drawing/2014/main" id="{5F985846-5CFC-136D-323D-4874477FA05C}"/>
              </a:ext>
            </a:extLst>
          </p:cNvPr>
          <p:cNvPicPr>
            <a:picLocks noChangeAspect="1"/>
          </p:cNvPicPr>
          <p:nvPr userDrawn="1"/>
        </p:nvPicPr>
        <p:blipFill>
          <a:blip r:embed="rId5"/>
          <a:stretch>
            <a:fillRect/>
          </a:stretch>
        </p:blipFill>
        <p:spPr>
          <a:xfrm>
            <a:off x="0" y="0"/>
            <a:ext cx="9148763" cy="5148263"/>
          </a:xfrm>
          <a:prstGeom prst="rect">
            <a:avLst/>
          </a:prstGeom>
          <a:ln w="12700">
            <a:miter lim="400000"/>
          </a:ln>
        </p:spPr>
      </p:pic>
      <p:pic>
        <p:nvPicPr>
          <p:cNvPr id="7" name="UCSanDiegoLogo-White.png">
            <a:extLst>
              <a:ext uri="{FF2B5EF4-FFF2-40B4-BE49-F238E27FC236}">
                <a16:creationId xmlns:a16="http://schemas.microsoft.com/office/drawing/2014/main" id="{C73416EC-27BF-65AC-3738-9E092C8A23DF}"/>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7538831" y="240172"/>
            <a:ext cx="1377806" cy="258338"/>
          </a:xfrm>
          <a:prstGeom prst="rect">
            <a:avLst/>
          </a:prstGeom>
          <a:ln w="12700">
            <a:miter lim="400000"/>
          </a:ln>
        </p:spPr>
      </p:pic>
      <p:sp>
        <p:nvSpPr>
          <p:cNvPr id="12" name="Title Placeholder 11">
            <a:extLst>
              <a:ext uri="{FF2B5EF4-FFF2-40B4-BE49-F238E27FC236}">
                <a16:creationId xmlns:a16="http://schemas.microsoft.com/office/drawing/2014/main" id="{48A6C597-26D8-1135-3219-8F5D1AECED3B}"/>
              </a:ext>
            </a:extLst>
          </p:cNvPr>
          <p:cNvSpPr>
            <a:spLocks noGrp="1"/>
          </p:cNvSpPr>
          <p:nvPr>
            <p:ph type="title"/>
          </p:nvPr>
        </p:nvSpPr>
        <p:spPr>
          <a:xfrm>
            <a:off x="457200" y="404813"/>
            <a:ext cx="6375400" cy="653653"/>
          </a:xfrm>
          <a:prstGeom prst="rect">
            <a:avLst/>
          </a:prstGeom>
        </p:spPr>
        <p:txBody>
          <a:bodyPr vert="horz" lIns="0" tIns="0" rIns="0" bIns="0" rtlCol="0" anchor="t" anchorCtr="0">
            <a:normAutofit/>
          </a:bodyPr>
          <a:lstStyle/>
          <a:p>
            <a:endParaRPr lang="en-US" dirty="0"/>
          </a:p>
        </p:txBody>
      </p:sp>
      <p:sp>
        <p:nvSpPr>
          <p:cNvPr id="16" name="Slide Number Placeholder 15">
            <a:extLst>
              <a:ext uri="{FF2B5EF4-FFF2-40B4-BE49-F238E27FC236}">
                <a16:creationId xmlns:a16="http://schemas.microsoft.com/office/drawing/2014/main" id="{D2CD74A2-5C42-4294-F48A-657B5E789AE5}"/>
              </a:ext>
            </a:extLst>
          </p:cNvPr>
          <p:cNvSpPr>
            <a:spLocks noGrp="1"/>
          </p:cNvSpPr>
          <p:nvPr>
            <p:ph type="sldNum" sz="quarter" idx="4"/>
          </p:nvPr>
        </p:nvSpPr>
        <p:spPr>
          <a:xfrm>
            <a:off x="182880" y="4854549"/>
            <a:ext cx="274319" cy="219101"/>
          </a:xfrm>
          <a:prstGeom prst="rect">
            <a:avLst/>
          </a:prstGeom>
        </p:spPr>
        <p:txBody>
          <a:bodyPr vert="horz" lIns="0" tIns="0" rIns="0" bIns="0" rtlCol="0" anchor="ctr"/>
          <a:lstStyle>
            <a:lvl1pPr algn="l">
              <a:defRPr sz="900">
                <a:solidFill>
                  <a:schemeClr val="tx1"/>
                </a:solidFill>
              </a:defRPr>
            </a:lvl1pPr>
          </a:lstStyle>
          <a:p>
            <a:fld id="{10182D5C-5622-0748-8D9A-CE71C49FA208}" type="slidenum">
              <a:rPr lang="en-US" smtClean="0"/>
              <a:pPr/>
              <a:t>‹#›</a:t>
            </a:fld>
            <a:endParaRPr lang="en-US" dirty="0"/>
          </a:p>
        </p:txBody>
      </p:sp>
      <p:sp>
        <p:nvSpPr>
          <p:cNvPr id="19" name="Text Placeholder 18">
            <a:extLst>
              <a:ext uri="{FF2B5EF4-FFF2-40B4-BE49-F238E27FC236}">
                <a16:creationId xmlns:a16="http://schemas.microsoft.com/office/drawing/2014/main" id="{41882680-A1EE-E7ED-C5AB-CE326D4380E2}"/>
              </a:ext>
            </a:extLst>
          </p:cNvPr>
          <p:cNvSpPr>
            <a:spLocks noGrp="1"/>
          </p:cNvSpPr>
          <p:nvPr>
            <p:ph type="body" idx="1"/>
          </p:nvPr>
        </p:nvSpPr>
        <p:spPr>
          <a:xfrm>
            <a:off x="457200" y="1300163"/>
            <a:ext cx="8229600" cy="3128962"/>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Footer Placeholder 19">
            <a:extLst>
              <a:ext uri="{FF2B5EF4-FFF2-40B4-BE49-F238E27FC236}">
                <a16:creationId xmlns:a16="http://schemas.microsoft.com/office/drawing/2014/main" id="{EA6684EF-69E9-43CC-C215-6D2F39D2FC64}"/>
              </a:ext>
            </a:extLst>
          </p:cNvPr>
          <p:cNvSpPr>
            <a:spLocks noGrp="1"/>
          </p:cNvSpPr>
          <p:nvPr>
            <p:ph type="ftr" sz="quarter" idx="3"/>
          </p:nvPr>
        </p:nvSpPr>
        <p:spPr>
          <a:xfrm>
            <a:off x="457199" y="4854549"/>
            <a:ext cx="1561625" cy="219102"/>
          </a:xfrm>
          <a:prstGeom prst="rect">
            <a:avLst/>
          </a:prstGeom>
        </p:spPr>
        <p:txBody>
          <a:bodyPr vert="horz" lIns="0" tIns="0" rIns="0" bIns="0" rtlCol="0" anchor="ctr"/>
          <a:lstStyle>
            <a:lvl1pPr algn="l">
              <a:defRPr sz="900">
                <a:solidFill>
                  <a:schemeClr val="tx1"/>
                </a:solidFill>
              </a:defRPr>
            </a:lvl1pPr>
          </a:lstStyle>
          <a:p>
            <a:r>
              <a:rPr lang="en-US"/>
              <a:t>Blue Notch Template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4" r:id="rId2"/>
    <p:sldLayoutId id="2147483656" r:id="rId3"/>
  </p:sldLayoutIdLst>
  <p:transition spd="med"/>
  <p:hf hdr="0" dt="0"/>
  <p:txStyles>
    <p:titleStyle>
      <a:lvl1pPr marL="0" marR="0" indent="0" algn="l" defTabSz="914377" rtl="0" latinLnBrk="0">
        <a:lnSpc>
          <a:spcPct val="80000"/>
        </a:lnSpc>
        <a:spcBef>
          <a:spcPts val="0"/>
        </a:spcBef>
        <a:spcAft>
          <a:spcPts val="0"/>
        </a:spcAft>
        <a:buClrTx/>
        <a:buSzTx/>
        <a:buFontTx/>
        <a:buNone/>
        <a:tabLst/>
        <a:defRPr sz="3400" b="1" i="0" u="none" strike="noStrike" cap="none" spc="0" baseline="0">
          <a:solidFill>
            <a:schemeClr val="tx1"/>
          </a:solidFill>
          <a:uFillTx/>
          <a:latin typeface="Teko" pitchFamily="2" charset="77"/>
          <a:ea typeface="+mn-ea"/>
          <a:cs typeface="+mn-cs"/>
          <a:sym typeface="Teko Bold"/>
        </a:defRPr>
      </a:lvl1pPr>
      <a:lvl2pPr marL="0" marR="0" indent="1714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2pPr>
      <a:lvl3pPr marL="0" marR="0" indent="3429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3pPr>
      <a:lvl4pPr marL="0" marR="0" indent="5143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4pPr>
      <a:lvl5pPr marL="0" marR="0" indent="6858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5pPr>
      <a:lvl6pPr marL="0" marR="0" indent="8572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6pPr>
      <a:lvl7pPr marL="0" marR="0" indent="10287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7pPr>
      <a:lvl8pPr marL="0" marR="0" indent="12001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8pPr>
      <a:lvl9pPr marL="0" marR="0" indent="13716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9pPr>
    </p:titleStyle>
    <p:bodyStyle>
      <a:lvl1pPr marL="2286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1pPr>
      <a:lvl2pPr marL="4572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2pPr>
      <a:lvl3pPr marL="6858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3pPr>
      <a:lvl4pPr marL="9144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4pPr>
      <a:lvl5pPr marL="11430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5pPr>
      <a:lvl6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6pPr>
      <a:lvl7pPr marL="4572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7pPr>
      <a:lvl8pPr marL="6858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8pPr>
      <a:lvl9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9pPr>
    </p:bodyStyle>
    <p:otherStyle>
      <a:lvl1pPr marL="0" marR="0" indent="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1pPr>
      <a:lvl2pPr marL="0" marR="0" indent="17145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2pPr>
      <a:lvl3pPr marL="0" marR="0" indent="34290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3pPr>
      <a:lvl4pPr marL="0" marR="0" indent="51435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4pPr>
      <a:lvl5pPr marL="0" marR="0" indent="68580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5pPr>
      <a:lvl6pPr marL="0" marR="0" indent="85725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6pPr>
      <a:lvl7pPr marL="0" marR="0" indent="102870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7pPr>
      <a:lvl8pPr marL="0" marR="0" indent="120015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8pPr>
      <a:lvl9pPr marL="0" marR="0" indent="137160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5" orient="horz" pos="819" userDrawn="1">
          <p15:clr>
            <a:srgbClr val="F26B43"/>
          </p15:clr>
        </p15:guide>
        <p15:guide id="6" orient="horz" pos="2790" userDrawn="1">
          <p15:clr>
            <a:srgbClr val="F26B43"/>
          </p15:clr>
        </p15:guide>
        <p15:guide id="7" orient="horz" pos="252" userDrawn="1">
          <p15:clr>
            <a:srgbClr val="F26B43"/>
          </p15:clr>
        </p15:guide>
        <p15:guide id="8" orient="horz" pos="666" userDrawn="1">
          <p15:clr>
            <a:srgbClr val="F26B43"/>
          </p15:clr>
        </p15:guide>
        <p15:guide id="9" pos="288" userDrawn="1">
          <p15:clr>
            <a:srgbClr val="F26B43"/>
          </p15:clr>
        </p15:guide>
        <p15:guide id="10" pos="5472" userDrawn="1">
          <p15:clr>
            <a:srgbClr val="F26B43"/>
          </p15:clr>
        </p15:guide>
        <p15:guide id="11" pos="259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 Id="rId3" Type="http://schemas.openxmlformats.org/officeDocument/2006/relationships/notesSlide" Target="../notesSlides/notesSlide16.xml" /></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image" Target="../media/image18.png" /><Relationship Id="rId1" Type="http://schemas.openxmlformats.org/officeDocument/2006/relationships/slideLayout" Target="../slideLayouts/slideLayout3.xml" /><Relationship Id="rId4" Type="http://schemas.openxmlformats.org/officeDocument/2006/relationships/notesSlide" Target="../notesSlides/notesSlide17.xml" /></Relationships>
</file>

<file path=ppt/slides/_rels/slide13.xml.rels><?xml version="1.0" encoding="UTF-8" standalone="yes"?>
<Relationships xmlns="http://schemas.openxmlformats.org/package/2006/relationships"><Relationship Id="rId3" Type="http://schemas.openxmlformats.org/officeDocument/2006/relationships/image" Target="../media/image21.jpg" /><Relationship Id="rId2" Type="http://schemas.openxmlformats.org/officeDocument/2006/relationships/image" Target="../media/image20.jpg" /><Relationship Id="rId1" Type="http://schemas.openxmlformats.org/officeDocument/2006/relationships/slideLayout" Target="../slideLayouts/slideLayout3.xml" /><Relationship Id="rId6" Type="http://schemas.openxmlformats.org/officeDocument/2006/relationships/image" Target="../media/image24.jpg" /><Relationship Id="rId5" Type="http://schemas.openxmlformats.org/officeDocument/2006/relationships/image" Target="../media/image23.jpg" /><Relationship Id="rId4" Type="http://schemas.openxmlformats.org/officeDocument/2006/relationships/image" Target="../media/image22.jpg" /><Relationship Id="rId7" Type="http://schemas.openxmlformats.org/officeDocument/2006/relationships/notesSlide" Target="../notesSlides/notesSlide18.xml" /></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4" name="Image" descr="UC San Diego Logo"/>
          <p:cNvPicPr>
            <a:picLocks noGrp="1" noChangeAspect="1"/>
          </p:cNvPicPr>
          <p:nvPr>
            <p:ph type="pic" idx="21"/>
          </p:nvPr>
        </p:nvPicPr>
        <p:blipFill>
          <a:blip r:embed="rId3"/>
          <a:srcRect/>
          <a:stretch>
            <a:fillRect/>
          </a:stretch>
        </p:blipFill>
        <p:spPr>
          <a:prstGeom prst="rect">
            <a:avLst/>
          </a:prstGeom>
        </p:spPr>
      </p:pic>
      <p:sp>
        <p:nvSpPr>
          <p:cNvPr id="226" name="Blue Notch Template"/>
          <p:cNvSpPr txBox="1">
            <a:spLocks noGrp="1"/>
          </p:cNvSpPr>
          <p:nvPr>
            <p:ph type="ctrTitle"/>
          </p:nvPr>
        </p:nvSpPr>
        <p:spPr>
          <a:xfrm>
            <a:off x="457200" y="976279"/>
            <a:ext cx="8522970" cy="1711938"/>
          </a:xfrm>
          <a:prstGeom prst="rect">
            <a:avLst/>
          </a:prstGeom>
        </p:spPr>
        <p:txBody>
          <a:bodyPr>
            <a:normAutofit/>
          </a:bodyPr>
          <a:lstStyle/>
          <a:p>
            <a:r>
              <a:rPr lang="en-US" sz="3000" dirty="0"/>
              <a:t>From Bits to Tokens: Knowledge-Driven Generative Communication of Multimodal Data</a:t>
            </a:r>
          </a:p>
        </p:txBody>
      </p:sp>
      <p:sp>
        <p:nvSpPr>
          <p:cNvPr id="227" name="Read on for tips on how to use this template."/>
          <p:cNvSpPr txBox="1">
            <a:spLocks noGrp="1"/>
          </p:cNvSpPr>
          <p:nvPr>
            <p:ph type="subTitle" sz="quarter" idx="1"/>
          </p:nvPr>
        </p:nvSpPr>
        <p:spPr>
          <a:prstGeom prst="rect">
            <a:avLst/>
          </a:prstGeom>
        </p:spPr>
        <p:txBody>
          <a:bodyPr/>
          <a:lstStyle/>
          <a:p>
            <a:r>
              <a:rPr lang="en-US" altLang="zh-CN" b="1" dirty="0"/>
              <a:t>Xingyu Chen</a:t>
            </a:r>
            <a:r>
              <a:rPr lang="en-US" altLang="zh-CN" dirty="0"/>
              <a:t>, Zihao Feng, Wuqiong Zhao, </a:t>
            </a:r>
            <a:r>
              <a:rPr lang="en-US" altLang="zh-CN" dirty="0" err="1"/>
              <a:t>Jianrong</a:t>
            </a:r>
            <a:r>
              <a:rPr lang="en-US" altLang="zh-CN" dirty="0"/>
              <a:t> Ding, Ke Sun, Xinyu Zhang</a:t>
            </a:r>
          </a:p>
        </p:txBody>
      </p:sp>
      <p:pic>
        <p:nvPicPr>
          <p:cNvPr id="2052" name="Picture 4" descr="UC San Diego - YouTube">
            <a:extLst>
              <a:ext uri="{FF2B5EF4-FFF2-40B4-BE49-F238E27FC236}">
                <a16:creationId xmlns:a16="http://schemas.microsoft.com/office/drawing/2014/main" id="{70B2416F-DBF5-F322-317C-D75E549C9D3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0049" y="3249801"/>
            <a:ext cx="1893699" cy="1893699"/>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E28D6412-D21A-2979-BA16-5A07182D2A48}"/>
              </a:ext>
            </a:extLst>
          </p:cNvPr>
          <p:cNvSpPr txBox="1"/>
          <p:nvPr/>
        </p:nvSpPr>
        <p:spPr>
          <a:xfrm>
            <a:off x="6761232" y="635325"/>
            <a:ext cx="2399696"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chemeClr val="bg1"/>
                </a:solidFill>
                <a:effectLst/>
                <a:uFillTx/>
                <a:latin typeface="Source Sans 3 Regular"/>
                <a:ea typeface="Source Sans 3 Regular"/>
                <a:cs typeface="Source Sans 3 Regular"/>
                <a:sym typeface="Source Sans 3 Regular"/>
              </a:rPr>
              <a:t>Center for Wireless Communications</a:t>
            </a:r>
            <a:endParaRPr kumimoji="0" lang="zh-CN" altLang="en-US" sz="1200" b="0" i="0" u="none" strike="noStrike" cap="none" spc="0" normalizeH="0" baseline="0" dirty="0">
              <a:ln>
                <a:noFill/>
              </a:ln>
              <a:solidFill>
                <a:schemeClr val="bg1"/>
              </a:solidFill>
              <a:effectLst/>
              <a:uFillTx/>
              <a:latin typeface="Source Sans 3 Regular"/>
              <a:ea typeface="Source Sans 3 Regular"/>
              <a:cs typeface="Source Sans 3 Regular"/>
              <a:sym typeface="Source Sans 3 Regular"/>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UCSD-BrandRefresh-PPTBackgrounds-v4_Blues-NotchTopBottom.png">
            <a:extLst>
              <a:ext uri="{FF2B5EF4-FFF2-40B4-BE49-F238E27FC236}">
                <a16:creationId xmlns:a16="http://schemas.microsoft.com/office/drawing/2014/main" id="{32BE5997-CE97-DC31-9DC2-D7BFDFDB7AF0}"/>
              </a:ext>
              <a:ext uri="{C183D7F6-B498-43B3-948B-1728B52AA6E4}">
                <adec:decorative xmlns:adec="http://schemas.microsoft.com/office/drawing/2017/decorative" val="1"/>
              </a:ext>
            </a:extLst>
          </p:cNvPr>
          <p:cNvPicPr>
            <a:picLocks noChangeAspect="1"/>
          </p:cNvPicPr>
          <p:nvPr/>
        </p:nvPicPr>
        <p:blipFill rotWithShape="1">
          <a:blip r:embed="rId3"/>
          <a:srcRect t="92044"/>
          <a:stretch/>
        </p:blipFill>
        <p:spPr>
          <a:xfrm>
            <a:off x="0" y="4738687"/>
            <a:ext cx="9148763" cy="409576"/>
          </a:xfrm>
          <a:prstGeom prst="rect">
            <a:avLst/>
          </a:prstGeom>
          <a:ln w="12700">
            <a:miter lim="400000"/>
          </a:ln>
        </p:spPr>
      </p:pic>
      <p:pic>
        <p:nvPicPr>
          <p:cNvPr id="8" name="UCSD-BrandRefresh-PPTBackgrounds-v4_Blues-NotchTopBottom.png">
            <a:extLst>
              <a:ext uri="{FF2B5EF4-FFF2-40B4-BE49-F238E27FC236}">
                <a16:creationId xmlns:a16="http://schemas.microsoft.com/office/drawing/2014/main" id="{033F0DFA-6010-E736-FFDE-19DAB1CB97E6}"/>
              </a:ext>
              <a:ext uri="{C183D7F6-B498-43B3-948B-1728B52AA6E4}">
                <adec:decorative xmlns:adec="http://schemas.microsoft.com/office/drawing/2017/decorative" val="1"/>
              </a:ext>
            </a:extLst>
          </p:cNvPr>
          <p:cNvPicPr>
            <a:picLocks noChangeAspect="1"/>
          </p:cNvPicPr>
          <p:nvPr/>
        </p:nvPicPr>
        <p:blipFill rotWithShape="1">
          <a:blip r:embed="rId3"/>
          <a:srcRect b="85199"/>
          <a:stretch/>
        </p:blipFill>
        <p:spPr>
          <a:xfrm>
            <a:off x="0" y="1"/>
            <a:ext cx="9148763" cy="762000"/>
          </a:xfrm>
          <a:prstGeom prst="rect">
            <a:avLst/>
          </a:prstGeom>
          <a:ln w="12700">
            <a:miter lim="400000"/>
          </a:ln>
        </p:spPr>
      </p:pic>
      <p:pic>
        <p:nvPicPr>
          <p:cNvPr id="10" name="UCSanDiegoLogo-White.png">
            <a:extLst>
              <a:ext uri="{FF2B5EF4-FFF2-40B4-BE49-F238E27FC236}">
                <a16:creationId xmlns:a16="http://schemas.microsoft.com/office/drawing/2014/main" id="{EC80CFA8-EACC-5885-51A2-71000378664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7538831" y="240172"/>
            <a:ext cx="1377806" cy="258338"/>
          </a:xfrm>
          <a:prstGeom prst="rect">
            <a:avLst/>
          </a:prstGeom>
          <a:ln w="12700">
            <a:miter lim="400000"/>
          </a:ln>
        </p:spPr>
      </p:pic>
      <p:sp>
        <p:nvSpPr>
          <p:cNvPr id="4" name="Title 3">
            <a:extLst>
              <a:ext uri="{FF2B5EF4-FFF2-40B4-BE49-F238E27FC236}">
                <a16:creationId xmlns:a16="http://schemas.microsoft.com/office/drawing/2014/main" id="{909444EF-BCFF-0F56-F96C-25A576CC3D25}"/>
              </a:ext>
            </a:extLst>
          </p:cNvPr>
          <p:cNvSpPr>
            <a:spLocks noGrp="1"/>
          </p:cNvSpPr>
          <p:nvPr>
            <p:ph type="title"/>
          </p:nvPr>
        </p:nvSpPr>
        <p:spPr>
          <a:xfrm>
            <a:off x="182880" y="404813"/>
            <a:ext cx="7316804" cy="653653"/>
          </a:xfrm>
        </p:spPr>
        <p:txBody>
          <a:bodyPr>
            <a:normAutofit/>
          </a:bodyPr>
          <a:lstStyle/>
          <a:p>
            <a:r>
              <a:rPr lang="en-US" altLang="zh-CN" sz="2800" dirty="0"/>
              <a:t>The Communication Bottleneck of Modern IoT</a:t>
            </a:r>
            <a:endParaRPr lang="en-US" sz="2800" dirty="0"/>
          </a:p>
        </p:txBody>
      </p:sp>
      <p:sp>
        <p:nvSpPr>
          <p:cNvPr id="12" name="Text Placeholder 2">
            <a:extLst>
              <a:ext uri="{FF2B5EF4-FFF2-40B4-BE49-F238E27FC236}">
                <a16:creationId xmlns:a16="http://schemas.microsoft.com/office/drawing/2014/main" id="{DD7AA271-ED4E-B5EB-43D4-DAF3F3DA2924}"/>
              </a:ext>
            </a:extLst>
          </p:cNvPr>
          <p:cNvSpPr txBox="1">
            <a:spLocks/>
          </p:cNvSpPr>
          <p:nvPr/>
        </p:nvSpPr>
        <p:spPr>
          <a:xfrm>
            <a:off x="457199" y="1463278"/>
            <a:ext cx="3758120" cy="564352"/>
          </a:xfrm>
          <a:prstGeom prst="rect">
            <a:avLst/>
          </a:prstGeom>
        </p:spPr>
        <p:txBody>
          <a:bodyPr vert="horz" lIns="0" tIns="0" rIns="0" bIns="0" rtlCol="0">
            <a:noAutofit/>
          </a:bodyPr>
          <a:lstStyle>
            <a:lvl1pPr marL="2286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1pPr>
            <a:lvl2pPr marL="4572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2pPr>
            <a:lvl3pPr marL="6858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3pPr>
            <a:lvl4pPr marL="9144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4pPr>
            <a:lvl5pPr marL="11430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5pPr>
            <a:lvl6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6pPr>
            <a:lvl7pPr marL="4572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7pPr>
            <a:lvl8pPr marL="6858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8pPr>
            <a:lvl9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9pPr>
          </a:lstStyle>
          <a:p>
            <a:pPr marL="0" indent="0" hangingPunct="1">
              <a:spcBef>
                <a:spcPts val="0"/>
              </a:spcBef>
              <a:buNone/>
            </a:pPr>
            <a:r>
              <a:rPr lang="en-US" altLang="zh-CN" sz="2000" b="1" dirty="0">
                <a:latin typeface="Arial" panose="020B0604020202020204" pitchFamily="34" charset="0"/>
                <a:cs typeface="Arial" panose="020B0604020202020204" pitchFamily="34" charset="0"/>
              </a:rPr>
              <a:t>The Old Paradigm:</a:t>
            </a:r>
          </a:p>
          <a:p>
            <a:pPr marL="0" indent="0" hangingPunct="1">
              <a:spcBef>
                <a:spcPts val="0"/>
              </a:spcBef>
              <a:buNone/>
            </a:pPr>
            <a:r>
              <a:rPr lang="en-US" sz="2000" b="1" dirty="0">
                <a:latin typeface="Arial" panose="020B0604020202020204" pitchFamily="34" charset="0"/>
                <a:cs typeface="Arial" panose="020B0604020202020204" pitchFamily="34" charset="0"/>
              </a:rPr>
              <a:t>Human Consumers</a:t>
            </a:r>
          </a:p>
        </p:txBody>
      </p:sp>
      <p:sp>
        <p:nvSpPr>
          <p:cNvPr id="15" name="Text Placeholder 2">
            <a:extLst>
              <a:ext uri="{FF2B5EF4-FFF2-40B4-BE49-F238E27FC236}">
                <a16:creationId xmlns:a16="http://schemas.microsoft.com/office/drawing/2014/main" id="{77179214-E0F0-0DCD-4C13-98AE85B924FC}"/>
              </a:ext>
            </a:extLst>
          </p:cNvPr>
          <p:cNvSpPr txBox="1">
            <a:spLocks/>
          </p:cNvSpPr>
          <p:nvPr/>
        </p:nvSpPr>
        <p:spPr>
          <a:xfrm>
            <a:off x="457199" y="3247358"/>
            <a:ext cx="3758120" cy="564352"/>
          </a:xfrm>
          <a:prstGeom prst="rect">
            <a:avLst/>
          </a:prstGeom>
        </p:spPr>
        <p:txBody>
          <a:bodyPr vert="horz" lIns="0" tIns="0" rIns="0" bIns="0" rtlCol="0">
            <a:noAutofit/>
          </a:bodyPr>
          <a:lstStyle>
            <a:lvl1pPr marL="2286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1pPr>
            <a:lvl2pPr marL="4572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2pPr>
            <a:lvl3pPr marL="6858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3pPr>
            <a:lvl4pPr marL="9144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4pPr>
            <a:lvl5pPr marL="11430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5pPr>
            <a:lvl6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6pPr>
            <a:lvl7pPr marL="4572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7pPr>
            <a:lvl8pPr marL="6858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8pPr>
            <a:lvl9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9pPr>
          </a:lstStyle>
          <a:p>
            <a:pPr marL="0" indent="0" hangingPunct="1">
              <a:spcBef>
                <a:spcPts val="0"/>
              </a:spcBef>
              <a:buNone/>
            </a:pPr>
            <a:r>
              <a:rPr lang="en-US" altLang="zh-CN" sz="2000" b="1" dirty="0">
                <a:latin typeface="Arial" panose="020B0604020202020204" pitchFamily="34" charset="0"/>
                <a:cs typeface="Arial" panose="020B0604020202020204" pitchFamily="34" charset="0"/>
              </a:rPr>
              <a:t>The New Paradigm:</a:t>
            </a:r>
          </a:p>
          <a:p>
            <a:pPr marL="0" indent="0" hangingPunct="1">
              <a:spcBef>
                <a:spcPts val="0"/>
              </a:spcBef>
              <a:buNone/>
            </a:pPr>
            <a:r>
              <a:rPr lang="en-US" sz="2000" b="1" dirty="0">
                <a:latin typeface="Arial" panose="020B0604020202020204" pitchFamily="34" charset="0"/>
                <a:cs typeface="Arial" panose="020B0604020202020204" pitchFamily="34" charset="0"/>
              </a:rPr>
              <a:t>Machine </a:t>
            </a:r>
            <a:r>
              <a:rPr lang="en-US" altLang="zh-CN" sz="2000" b="1" dirty="0">
                <a:latin typeface="Arial" panose="020B0604020202020204" pitchFamily="34" charset="0"/>
                <a:cs typeface="Arial" panose="020B0604020202020204" pitchFamily="34" charset="0"/>
              </a:rPr>
              <a:t>Decision-Makers</a:t>
            </a:r>
            <a:endParaRPr lang="en-US" sz="2000" b="1" dirty="0">
              <a:latin typeface="Arial" panose="020B0604020202020204" pitchFamily="34" charset="0"/>
              <a:cs typeface="Arial" panose="020B0604020202020204" pitchFamily="34" charset="0"/>
            </a:endParaRPr>
          </a:p>
        </p:txBody>
      </p:sp>
      <p:pic>
        <p:nvPicPr>
          <p:cNvPr id="2050" name="Picture 2" descr="Live Streaming Workflow: All you Need to Know">
            <a:extLst>
              <a:ext uri="{FF2B5EF4-FFF2-40B4-BE49-F238E27FC236}">
                <a16:creationId xmlns:a16="http://schemas.microsoft.com/office/drawing/2014/main" id="{2514852F-632B-0C64-8E51-4FF775CE1D89}"/>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43497" r="5509" b="15627"/>
          <a:stretch>
            <a:fillRect/>
          </a:stretch>
        </p:blipFill>
        <p:spPr bwMode="auto">
          <a:xfrm>
            <a:off x="4244442" y="1274786"/>
            <a:ext cx="4487334" cy="101575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Sensor Images – Browse 1,276,355 Stock Photos, Vectors, and Video | Adobe  Stock">
            <a:extLst>
              <a:ext uri="{FF2B5EF4-FFF2-40B4-BE49-F238E27FC236}">
                <a16:creationId xmlns:a16="http://schemas.microsoft.com/office/drawing/2014/main" id="{0062B315-35E9-DF2D-7F78-B868610E786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617" t="15097" r="20617" b="31296"/>
          <a:stretch>
            <a:fillRect/>
          </a:stretch>
        </p:blipFill>
        <p:spPr bwMode="auto">
          <a:xfrm rot="5400000">
            <a:off x="4275172" y="2748836"/>
            <a:ext cx="948883" cy="86557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Ai cloud computing icon illustration 57988946 Vector Art at Vecteezy">
            <a:extLst>
              <a:ext uri="{FF2B5EF4-FFF2-40B4-BE49-F238E27FC236}">
                <a16:creationId xmlns:a16="http://schemas.microsoft.com/office/drawing/2014/main" id="{50DA0DF8-5FC0-77BC-DAC0-BD9B9821D5E6}"/>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4205" t="29073" r="9006" b="21884"/>
          <a:stretch>
            <a:fillRect/>
          </a:stretch>
        </p:blipFill>
        <p:spPr bwMode="auto">
          <a:xfrm>
            <a:off x="6822160" y="3153747"/>
            <a:ext cx="1782234" cy="113824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直接箭头连接符 18">
            <a:extLst>
              <a:ext uri="{FF2B5EF4-FFF2-40B4-BE49-F238E27FC236}">
                <a16:creationId xmlns:a16="http://schemas.microsoft.com/office/drawing/2014/main" id="{CC67F807-CC80-C913-933E-888CCFE099DB}"/>
              </a:ext>
            </a:extLst>
          </p:cNvPr>
          <p:cNvCxnSpPr>
            <a:cxnSpLocks/>
          </p:cNvCxnSpPr>
          <p:nvPr/>
        </p:nvCxnSpPr>
        <p:spPr>
          <a:xfrm>
            <a:off x="5252488" y="3204669"/>
            <a:ext cx="1436040" cy="22575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0" name="直接箭头连接符 19">
            <a:extLst>
              <a:ext uri="{FF2B5EF4-FFF2-40B4-BE49-F238E27FC236}">
                <a16:creationId xmlns:a16="http://schemas.microsoft.com/office/drawing/2014/main" id="{9FEACB71-1A38-8D6A-CDA3-34B12FE282C8}"/>
              </a:ext>
            </a:extLst>
          </p:cNvPr>
          <p:cNvCxnSpPr>
            <a:cxnSpLocks/>
          </p:cNvCxnSpPr>
          <p:nvPr/>
        </p:nvCxnSpPr>
        <p:spPr>
          <a:xfrm flipH="1">
            <a:off x="5475632" y="3924064"/>
            <a:ext cx="1166468" cy="36792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3" name="Text Placeholder 2">
            <a:extLst>
              <a:ext uri="{FF2B5EF4-FFF2-40B4-BE49-F238E27FC236}">
                <a16:creationId xmlns:a16="http://schemas.microsoft.com/office/drawing/2014/main" id="{5FAAE8E4-298E-082A-602C-F525194A8621}"/>
              </a:ext>
            </a:extLst>
          </p:cNvPr>
          <p:cNvSpPr txBox="1">
            <a:spLocks/>
          </p:cNvSpPr>
          <p:nvPr/>
        </p:nvSpPr>
        <p:spPr>
          <a:xfrm>
            <a:off x="4343639" y="3463668"/>
            <a:ext cx="1270608" cy="564352"/>
          </a:xfrm>
          <a:prstGeom prst="rect">
            <a:avLst/>
          </a:prstGeom>
        </p:spPr>
        <p:txBody>
          <a:bodyPr vert="horz" lIns="0" tIns="0" rIns="0" bIns="0" rtlCol="0">
            <a:noAutofit/>
          </a:bodyPr>
          <a:lstStyle>
            <a:lvl1pPr marL="2286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1pPr>
            <a:lvl2pPr marL="4572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2pPr>
            <a:lvl3pPr marL="6858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3pPr>
            <a:lvl4pPr marL="9144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4pPr>
            <a:lvl5pPr marL="11430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5pPr>
            <a:lvl6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6pPr>
            <a:lvl7pPr marL="4572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7pPr>
            <a:lvl8pPr marL="6858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8pPr>
            <a:lvl9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9pPr>
          </a:lstStyle>
          <a:p>
            <a:pPr marL="0" indent="0" hangingPunct="1">
              <a:spcBef>
                <a:spcPts val="0"/>
              </a:spcBef>
              <a:buNone/>
            </a:pPr>
            <a:r>
              <a:rPr lang="en-US" altLang="zh-CN" sz="2000" b="1" dirty="0">
                <a:solidFill>
                  <a:schemeClr val="tx2">
                    <a:lumMod val="75000"/>
                    <a:lumOff val="25000"/>
                  </a:schemeClr>
                </a:solidFill>
                <a:latin typeface="Arial" panose="020B0604020202020204" pitchFamily="34" charset="0"/>
                <a:cs typeface="Arial" panose="020B0604020202020204" pitchFamily="34" charset="0"/>
              </a:rPr>
              <a:t>Sensors</a:t>
            </a:r>
            <a:endParaRPr lang="en-US" sz="2000" b="1" dirty="0">
              <a:solidFill>
                <a:schemeClr val="tx2">
                  <a:lumMod val="75000"/>
                  <a:lumOff val="25000"/>
                </a:schemeClr>
              </a:solidFill>
              <a:latin typeface="Arial" panose="020B0604020202020204" pitchFamily="34" charset="0"/>
              <a:cs typeface="Arial" panose="020B0604020202020204" pitchFamily="34" charset="0"/>
            </a:endParaRPr>
          </a:p>
        </p:txBody>
      </p:sp>
      <p:sp>
        <p:nvSpPr>
          <p:cNvPr id="24" name="Text Placeholder 2">
            <a:extLst>
              <a:ext uri="{FF2B5EF4-FFF2-40B4-BE49-F238E27FC236}">
                <a16:creationId xmlns:a16="http://schemas.microsoft.com/office/drawing/2014/main" id="{35D8E23A-8169-0059-AFCF-82151B5194AF}"/>
              </a:ext>
            </a:extLst>
          </p:cNvPr>
          <p:cNvSpPr txBox="1">
            <a:spLocks/>
          </p:cNvSpPr>
          <p:nvPr/>
        </p:nvSpPr>
        <p:spPr>
          <a:xfrm>
            <a:off x="4376092" y="4594725"/>
            <a:ext cx="1270608" cy="564352"/>
          </a:xfrm>
          <a:prstGeom prst="rect">
            <a:avLst/>
          </a:prstGeom>
        </p:spPr>
        <p:txBody>
          <a:bodyPr vert="horz" lIns="0" tIns="0" rIns="0" bIns="0" rtlCol="0">
            <a:noAutofit/>
          </a:bodyPr>
          <a:lstStyle>
            <a:lvl1pPr marL="2286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1pPr>
            <a:lvl2pPr marL="4572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2pPr>
            <a:lvl3pPr marL="6858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3pPr>
            <a:lvl4pPr marL="9144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4pPr>
            <a:lvl5pPr marL="11430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5pPr>
            <a:lvl6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6pPr>
            <a:lvl7pPr marL="4572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7pPr>
            <a:lvl8pPr marL="6858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8pPr>
            <a:lvl9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9pPr>
          </a:lstStyle>
          <a:p>
            <a:pPr marL="0" indent="0" hangingPunct="1">
              <a:spcBef>
                <a:spcPts val="0"/>
              </a:spcBef>
              <a:buNone/>
            </a:pPr>
            <a:r>
              <a:rPr lang="en-US" altLang="zh-CN" sz="2000" b="1" dirty="0">
                <a:solidFill>
                  <a:schemeClr val="tx2">
                    <a:lumMod val="75000"/>
                    <a:lumOff val="25000"/>
                  </a:schemeClr>
                </a:solidFill>
                <a:latin typeface="Arial" panose="020B0604020202020204" pitchFamily="34" charset="0"/>
                <a:cs typeface="Arial" panose="020B0604020202020204" pitchFamily="34" charset="0"/>
              </a:rPr>
              <a:t>Actions</a:t>
            </a:r>
            <a:endParaRPr lang="en-US" sz="2000" b="1" dirty="0">
              <a:solidFill>
                <a:schemeClr val="tx2">
                  <a:lumMod val="75000"/>
                  <a:lumOff val="25000"/>
                </a:schemeClr>
              </a:solidFill>
              <a:latin typeface="Arial" panose="020B0604020202020204" pitchFamily="34" charset="0"/>
              <a:cs typeface="Arial" panose="020B0604020202020204" pitchFamily="34" charset="0"/>
            </a:endParaRPr>
          </a:p>
        </p:txBody>
      </p:sp>
      <p:sp>
        <p:nvSpPr>
          <p:cNvPr id="25" name="Text Placeholder 2">
            <a:extLst>
              <a:ext uri="{FF2B5EF4-FFF2-40B4-BE49-F238E27FC236}">
                <a16:creationId xmlns:a16="http://schemas.microsoft.com/office/drawing/2014/main" id="{16297CA0-3EF3-5F72-77B5-F3B104886CC4}"/>
              </a:ext>
            </a:extLst>
          </p:cNvPr>
          <p:cNvSpPr txBox="1">
            <a:spLocks/>
          </p:cNvSpPr>
          <p:nvPr/>
        </p:nvSpPr>
        <p:spPr>
          <a:xfrm>
            <a:off x="6666759" y="4256637"/>
            <a:ext cx="2065017" cy="564352"/>
          </a:xfrm>
          <a:prstGeom prst="rect">
            <a:avLst/>
          </a:prstGeom>
        </p:spPr>
        <p:txBody>
          <a:bodyPr vert="horz" lIns="0" tIns="0" rIns="0" bIns="0" rtlCol="0">
            <a:noAutofit/>
          </a:bodyPr>
          <a:lstStyle>
            <a:lvl1pPr marL="2286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1pPr>
            <a:lvl2pPr marL="4572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2pPr>
            <a:lvl3pPr marL="6858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3pPr>
            <a:lvl4pPr marL="9144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4pPr>
            <a:lvl5pPr marL="11430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5pPr>
            <a:lvl6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6pPr>
            <a:lvl7pPr marL="4572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7pPr>
            <a:lvl8pPr marL="6858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8pPr>
            <a:lvl9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9pPr>
          </a:lstStyle>
          <a:p>
            <a:pPr marL="0" indent="0" hangingPunct="1">
              <a:spcBef>
                <a:spcPts val="0"/>
              </a:spcBef>
              <a:buNone/>
            </a:pPr>
            <a:r>
              <a:rPr lang="en-US" altLang="zh-CN" sz="2000" b="1" dirty="0">
                <a:solidFill>
                  <a:schemeClr val="tx2">
                    <a:lumMod val="75000"/>
                    <a:lumOff val="25000"/>
                  </a:schemeClr>
                </a:solidFill>
                <a:latin typeface="Arial" panose="020B0604020202020204" pitchFamily="34" charset="0"/>
                <a:cs typeface="Arial" panose="020B0604020202020204" pitchFamily="34" charset="0"/>
              </a:rPr>
              <a:t>Decision Making</a:t>
            </a:r>
            <a:endParaRPr lang="en-US" sz="2000" b="1" dirty="0">
              <a:solidFill>
                <a:schemeClr val="tx2">
                  <a:lumMod val="75000"/>
                  <a:lumOff val="25000"/>
                </a:schemeClr>
              </a:solidFill>
              <a:latin typeface="Arial" panose="020B0604020202020204" pitchFamily="34" charset="0"/>
              <a:cs typeface="Arial" panose="020B0604020202020204" pitchFamily="34" charset="0"/>
            </a:endParaRPr>
          </a:p>
        </p:txBody>
      </p:sp>
      <p:pic>
        <p:nvPicPr>
          <p:cNvPr id="1026" name="Picture 2" descr="Drone - Free technology icons">
            <a:extLst>
              <a:ext uri="{FF2B5EF4-FFF2-40B4-BE49-F238E27FC236}">
                <a16:creationId xmlns:a16="http://schemas.microsoft.com/office/drawing/2014/main" id="{D0D7C70A-72DE-F0D9-CCBF-DAB78F4EF4A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335846" y="3782943"/>
            <a:ext cx="966858" cy="966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91755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1AD71-5AAD-96EF-E409-54F2F3FD63F2}"/>
              </a:ext>
            </a:extLst>
          </p:cNvPr>
          <p:cNvSpPr>
            <a:spLocks noGrp="1"/>
          </p:cNvSpPr>
          <p:nvPr>
            <p:ph type="title"/>
          </p:nvPr>
        </p:nvSpPr>
        <p:spPr>
          <a:xfrm>
            <a:off x="457199" y="404813"/>
            <a:ext cx="6910251" cy="653653"/>
          </a:xfrm>
        </p:spPr>
        <p:txBody>
          <a:bodyPr>
            <a:noAutofit/>
          </a:bodyPr>
          <a:lstStyle/>
          <a:p>
            <a:r>
              <a:rPr lang="en-US" altLang="zh-CN" sz="2400" dirty="0">
                <a:latin typeface="Arial" panose="020B0604020202020204" pitchFamily="34" charset="0"/>
                <a:ea typeface="Linux Libertine" panose="02000503000000000000" pitchFamily="2" charset="0"/>
                <a:cs typeface="Arial" panose="020B0604020202020204" pitchFamily="34" charset="0"/>
              </a:rPr>
              <a:t>The Misalignment in Wireless Communication</a:t>
            </a:r>
            <a:endParaRPr lang="en-US" sz="2400" dirty="0"/>
          </a:p>
        </p:txBody>
      </p:sp>
      <p:sp>
        <p:nvSpPr>
          <p:cNvPr id="3" name="Text Placeholder 2">
            <a:extLst>
              <a:ext uri="{FF2B5EF4-FFF2-40B4-BE49-F238E27FC236}">
                <a16:creationId xmlns:a16="http://schemas.microsoft.com/office/drawing/2014/main" id="{1B4CD770-4489-3DB7-EC2A-460287D21ED5}"/>
              </a:ext>
            </a:extLst>
          </p:cNvPr>
          <p:cNvSpPr>
            <a:spLocks noGrp="1"/>
          </p:cNvSpPr>
          <p:nvPr>
            <p:ph type="body" sz="quarter" idx="11"/>
          </p:nvPr>
        </p:nvSpPr>
        <p:spPr>
          <a:xfrm>
            <a:off x="457199" y="1104240"/>
            <a:ext cx="8338458" cy="3054586"/>
          </a:xfrm>
        </p:spPr>
        <p:txBody>
          <a:bodyPr>
            <a:normAutofit/>
          </a:bodyPr>
          <a:lstStyle/>
          <a:p>
            <a:pPr>
              <a:spcBef>
                <a:spcPts val="0"/>
              </a:spcBef>
            </a:pPr>
            <a:r>
              <a:rPr lang="en-US" altLang="zh-CN" sz="2000" dirty="0">
                <a:latin typeface="Arial" panose="020B0604020202020204" pitchFamily="34" charset="0"/>
                <a:ea typeface="Linux Libertine" panose="02000503000000000000" pitchFamily="2" charset="0"/>
                <a:cs typeface="Arial" panose="020B0604020202020204" pitchFamily="34" charset="0"/>
              </a:rPr>
              <a:t>Core Theory: Shannon’s Theorem</a:t>
            </a:r>
          </a:p>
          <a:p>
            <a:pPr>
              <a:spcBef>
                <a:spcPts val="0"/>
              </a:spcBef>
            </a:pPr>
            <a:endParaRPr lang="en-US" altLang="zh-CN" sz="2000" dirty="0">
              <a:latin typeface="Arial" panose="020B0604020202020204" pitchFamily="34" charset="0"/>
              <a:ea typeface="Linux Libertine" panose="02000503000000000000" pitchFamily="2" charset="0"/>
              <a:cs typeface="Arial" panose="020B0604020202020204" pitchFamily="34" charset="0"/>
            </a:endParaRPr>
          </a:p>
          <a:p>
            <a:pPr>
              <a:spcBef>
                <a:spcPts val="0"/>
              </a:spcBef>
            </a:pPr>
            <a:r>
              <a:rPr lang="en-US" altLang="zh-CN" sz="2000" dirty="0">
                <a:latin typeface="Arial" panose="020B0604020202020204" pitchFamily="34" charset="0"/>
                <a:ea typeface="Linux Libertine" panose="02000503000000000000" pitchFamily="2" charset="0"/>
                <a:cs typeface="Arial" panose="020B0604020202020204" pitchFamily="34" charset="0"/>
              </a:rPr>
              <a:t>The Misalignment:</a:t>
            </a:r>
            <a:br>
              <a:rPr lang="en-US" altLang="zh-CN" sz="2000" dirty="0">
                <a:latin typeface="Arial" panose="020B0604020202020204" pitchFamily="34" charset="0"/>
                <a:ea typeface="Linux Libertine" panose="02000503000000000000" pitchFamily="2" charset="0"/>
                <a:cs typeface="Arial" panose="020B0604020202020204" pitchFamily="34" charset="0"/>
              </a:rPr>
            </a:br>
            <a:r>
              <a:rPr lang="en-US" altLang="zh-CN" sz="2000" dirty="0">
                <a:latin typeface="Arial" panose="020B0604020202020204" pitchFamily="34" charset="0"/>
                <a:ea typeface="Linux Libertine" panose="02000503000000000000" pitchFamily="2" charset="0"/>
                <a:cs typeface="Arial" panose="020B0604020202020204" pitchFamily="34" charset="0"/>
              </a:rPr>
              <a:t>• </a:t>
            </a:r>
            <a:r>
              <a:rPr lang="en-US" altLang="zh-CN" sz="2000" b="1" dirty="0">
                <a:latin typeface="Arial" panose="020B0604020202020204" pitchFamily="34" charset="0"/>
                <a:ea typeface="Linux Libertine" panose="02000503000000000000" pitchFamily="2" charset="0"/>
                <a:cs typeface="Arial" panose="020B0604020202020204" pitchFamily="34" charset="0"/>
              </a:rPr>
              <a:t>Network Objective</a:t>
            </a:r>
            <a:r>
              <a:rPr lang="en-US" altLang="zh-CN" sz="2000" dirty="0">
                <a:latin typeface="Arial" panose="020B0604020202020204" pitchFamily="34" charset="0"/>
                <a:ea typeface="Linux Libertine" panose="02000503000000000000" pitchFamily="2" charset="0"/>
                <a:cs typeface="Arial" panose="020B0604020202020204" pitchFamily="34" charset="0"/>
              </a:rPr>
              <a:t>: Minimize Bit Error Rate</a:t>
            </a:r>
            <a:br>
              <a:rPr lang="en-US" altLang="zh-CN" sz="2000" dirty="0">
                <a:latin typeface="Arial" panose="020B0604020202020204" pitchFamily="34" charset="0"/>
                <a:ea typeface="Linux Libertine" panose="02000503000000000000" pitchFamily="2" charset="0"/>
                <a:cs typeface="Arial" panose="020B0604020202020204" pitchFamily="34" charset="0"/>
              </a:rPr>
            </a:br>
            <a:r>
              <a:rPr lang="en-US" altLang="zh-CN" sz="2000" dirty="0">
                <a:latin typeface="Arial" panose="020B0604020202020204" pitchFamily="34" charset="0"/>
                <a:ea typeface="Linux Libertine" panose="02000503000000000000" pitchFamily="2" charset="0"/>
                <a:cs typeface="Arial" panose="020B0604020202020204" pitchFamily="34" charset="0"/>
              </a:rPr>
              <a:t>• </a:t>
            </a:r>
            <a:r>
              <a:rPr lang="en-US" altLang="zh-CN" sz="2000" b="1" dirty="0">
                <a:latin typeface="Arial" panose="020B0604020202020204" pitchFamily="34" charset="0"/>
                <a:ea typeface="Linux Libertine" panose="02000503000000000000" pitchFamily="2" charset="0"/>
                <a:cs typeface="Arial" panose="020B0604020202020204" pitchFamily="34" charset="0"/>
              </a:rPr>
              <a:t>Application Objective</a:t>
            </a:r>
            <a:r>
              <a:rPr lang="en-US" altLang="zh-CN" sz="2000" dirty="0">
                <a:latin typeface="Arial" panose="020B0604020202020204" pitchFamily="34" charset="0"/>
                <a:ea typeface="Linux Libertine" panose="02000503000000000000" pitchFamily="2" charset="0"/>
                <a:cs typeface="Arial" panose="020B0604020202020204" pitchFamily="34" charset="0"/>
              </a:rPr>
              <a:t>: Maximize Task Accuracy.</a:t>
            </a:r>
          </a:p>
          <a:p>
            <a:pPr>
              <a:spcBef>
                <a:spcPts val="0"/>
              </a:spcBef>
            </a:pPr>
            <a:endParaRPr lang="en-US" altLang="zh-CN" sz="2000" dirty="0">
              <a:latin typeface="Arial" panose="020B0604020202020204" pitchFamily="34" charset="0"/>
              <a:ea typeface="Linux Libertine" panose="02000503000000000000" pitchFamily="2" charset="0"/>
              <a:cs typeface="Arial" panose="020B0604020202020204" pitchFamily="34" charset="0"/>
            </a:endParaRPr>
          </a:p>
          <a:p>
            <a:pPr>
              <a:spcBef>
                <a:spcPts val="0"/>
              </a:spcBef>
            </a:pPr>
            <a:r>
              <a:rPr lang="en-US" altLang="zh-CN" sz="2000" dirty="0">
                <a:latin typeface="Arial" panose="020B0604020202020204" pitchFamily="34" charset="0"/>
                <a:ea typeface="Linux Libertine" panose="02000503000000000000" pitchFamily="2" charset="0"/>
                <a:cs typeface="Arial" panose="020B0604020202020204" pitchFamily="34" charset="0"/>
              </a:rPr>
              <a:t>The Consequence:</a:t>
            </a:r>
            <a:br>
              <a:rPr lang="en-US" altLang="zh-CN" sz="2000" dirty="0">
                <a:latin typeface="Arial" panose="020B0604020202020204" pitchFamily="34" charset="0"/>
                <a:ea typeface="Linux Libertine" panose="02000503000000000000" pitchFamily="2" charset="0"/>
                <a:cs typeface="Arial" panose="020B0604020202020204" pitchFamily="34" charset="0"/>
              </a:rPr>
            </a:br>
            <a:r>
              <a:rPr lang="en-US" altLang="zh-CN" sz="2000" dirty="0">
                <a:latin typeface="Arial" panose="020B0604020202020204" pitchFamily="34" charset="0"/>
                <a:ea typeface="Linux Libertine" panose="02000503000000000000" pitchFamily="2" charset="0"/>
                <a:cs typeface="Arial" panose="020B0604020202020204" pitchFamily="34" charset="0"/>
              </a:rPr>
              <a:t>In wireless settings with interference and fading, strict bit-fidelity forces retransmissions This kills latency for real-time applications.</a:t>
            </a:r>
            <a:endParaRPr lang="en-US" sz="2000" dirty="0">
              <a:latin typeface="Arial" panose="020B0604020202020204" pitchFamily="34" charset="0"/>
              <a:ea typeface="Linux Libertine" panose="02000503000000000000" pitchFamily="2" charset="0"/>
              <a:cs typeface="Arial" panose="020B0604020202020204" pitchFamily="34" charset="0"/>
            </a:endParaRPr>
          </a:p>
          <a:p>
            <a:pPr>
              <a:spcBef>
                <a:spcPts val="0"/>
              </a:spcBef>
            </a:pPr>
            <a:endParaRPr lang="en-US" sz="2000" dirty="0">
              <a:latin typeface="Arial" panose="020B0604020202020204" pitchFamily="34" charset="0"/>
              <a:ea typeface="Linux Libertine" panose="02000503000000000000" pitchFamily="2" charset="0"/>
              <a:cs typeface="Arial" panose="020B0604020202020204" pitchFamily="34" charset="0"/>
            </a:endParaRPr>
          </a:p>
        </p:txBody>
      </p:sp>
    </p:spTree>
    <p:extLst>
      <p:ext uri="{BB962C8B-B14F-4D97-AF65-F5344CB8AC3E}">
        <p14:creationId xmlns:p14="http://schemas.microsoft.com/office/powerpoint/2010/main" val="50904183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E0095-E669-23DA-3494-0E83404A8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1DA40F-EF3D-F9FD-BDA1-874D973780C0}"/>
              </a:ext>
            </a:extLst>
          </p:cNvPr>
          <p:cNvSpPr>
            <a:spLocks noGrp="1"/>
          </p:cNvSpPr>
          <p:nvPr>
            <p:ph type="title"/>
          </p:nvPr>
        </p:nvSpPr>
        <p:spPr>
          <a:xfrm>
            <a:off x="457199" y="404813"/>
            <a:ext cx="6965769" cy="653653"/>
          </a:xfrm>
        </p:spPr>
        <p:txBody>
          <a:bodyPr>
            <a:noAutofit/>
          </a:bodyPr>
          <a:lstStyle/>
          <a:p>
            <a:r>
              <a:rPr lang="en-US" altLang="zh-CN" sz="2400" dirty="0">
                <a:latin typeface="Arial" panose="020B0604020202020204" pitchFamily="34" charset="0"/>
                <a:ea typeface="Linux Libertine" panose="02000503000000000000" pitchFamily="2" charset="0"/>
                <a:cs typeface="Arial" panose="020B0604020202020204" pitchFamily="34" charset="0"/>
              </a:rPr>
              <a:t>The Misalignment in Wireless Communication</a:t>
            </a:r>
            <a:endParaRPr lang="en-US" sz="2400" dirty="0"/>
          </a:p>
        </p:txBody>
      </p:sp>
      <p:sp>
        <p:nvSpPr>
          <p:cNvPr id="10" name="Text Placeholder 2">
            <a:extLst>
              <a:ext uri="{FF2B5EF4-FFF2-40B4-BE49-F238E27FC236}">
                <a16:creationId xmlns:a16="http://schemas.microsoft.com/office/drawing/2014/main" id="{1881F746-1A7D-30C5-FB91-3DE10008246E}"/>
              </a:ext>
            </a:extLst>
          </p:cNvPr>
          <p:cNvSpPr>
            <a:spLocks noGrp="1"/>
          </p:cNvSpPr>
          <p:nvPr>
            <p:ph type="body" sz="quarter" idx="11"/>
          </p:nvPr>
        </p:nvSpPr>
        <p:spPr>
          <a:xfrm>
            <a:off x="457199" y="1104240"/>
            <a:ext cx="8490858" cy="3054586"/>
          </a:xfrm>
        </p:spPr>
        <p:txBody>
          <a:bodyPr>
            <a:normAutofit/>
          </a:bodyPr>
          <a:lstStyle/>
          <a:p>
            <a:pPr>
              <a:spcBef>
                <a:spcPts val="0"/>
              </a:spcBef>
            </a:pPr>
            <a:r>
              <a:rPr lang="en-US" altLang="zh-CN" sz="2000" dirty="0">
                <a:latin typeface="Arial" panose="020B0604020202020204" pitchFamily="34" charset="0"/>
                <a:ea typeface="Linux Libertine" panose="02000503000000000000" pitchFamily="2" charset="0"/>
                <a:cs typeface="Arial" panose="020B0604020202020204" pitchFamily="34" charset="0"/>
              </a:rPr>
              <a:t>Core Theory: Shannon’s Theorem</a:t>
            </a:r>
          </a:p>
          <a:p>
            <a:pPr marL="0" indent="0">
              <a:spcBef>
                <a:spcPts val="0"/>
              </a:spcBef>
              <a:buNone/>
            </a:pPr>
            <a:endParaRPr lang="en-US" altLang="zh-CN" sz="2000" dirty="0">
              <a:latin typeface="Arial" panose="020B0604020202020204" pitchFamily="34" charset="0"/>
              <a:ea typeface="Linux Libertine" panose="02000503000000000000" pitchFamily="2" charset="0"/>
              <a:cs typeface="Arial" panose="020B0604020202020204" pitchFamily="34" charset="0"/>
            </a:endParaRPr>
          </a:p>
          <a:p>
            <a:pPr>
              <a:spcBef>
                <a:spcPts val="0"/>
              </a:spcBef>
            </a:pPr>
            <a:r>
              <a:rPr lang="en-US" altLang="zh-CN" sz="2000" dirty="0">
                <a:latin typeface="Arial" panose="020B0604020202020204" pitchFamily="34" charset="0"/>
                <a:ea typeface="Linux Libertine" panose="02000503000000000000" pitchFamily="2" charset="0"/>
                <a:cs typeface="Arial" panose="020B0604020202020204" pitchFamily="34" charset="0"/>
              </a:rPr>
              <a:t>The Misalignment:</a:t>
            </a:r>
            <a:br>
              <a:rPr lang="en-US" altLang="zh-CN" sz="2000" dirty="0">
                <a:latin typeface="Arial" panose="020B0604020202020204" pitchFamily="34" charset="0"/>
                <a:ea typeface="Linux Libertine" panose="02000503000000000000" pitchFamily="2" charset="0"/>
                <a:cs typeface="Arial" panose="020B0604020202020204" pitchFamily="34" charset="0"/>
              </a:rPr>
            </a:br>
            <a:r>
              <a:rPr lang="en-US" altLang="zh-CN" sz="2000" dirty="0">
                <a:latin typeface="Arial" panose="020B0604020202020204" pitchFamily="34" charset="0"/>
                <a:ea typeface="Linux Libertine" panose="02000503000000000000" pitchFamily="2" charset="0"/>
                <a:cs typeface="Arial" panose="020B0604020202020204" pitchFamily="34" charset="0"/>
              </a:rPr>
              <a:t>• </a:t>
            </a:r>
            <a:r>
              <a:rPr lang="en-US" altLang="zh-CN" sz="2000" b="1" dirty="0">
                <a:latin typeface="Arial" panose="020B0604020202020204" pitchFamily="34" charset="0"/>
                <a:ea typeface="Linux Libertine" panose="02000503000000000000" pitchFamily="2" charset="0"/>
                <a:cs typeface="Arial" panose="020B0604020202020204" pitchFamily="34" charset="0"/>
              </a:rPr>
              <a:t>Network Objective</a:t>
            </a:r>
            <a:r>
              <a:rPr lang="en-US" altLang="zh-CN" sz="2000" dirty="0">
                <a:latin typeface="Arial" panose="020B0604020202020204" pitchFamily="34" charset="0"/>
                <a:ea typeface="Linux Libertine" panose="02000503000000000000" pitchFamily="2" charset="0"/>
                <a:cs typeface="Arial" panose="020B0604020202020204" pitchFamily="34" charset="0"/>
              </a:rPr>
              <a:t>: Minimize Bit Error Rate</a:t>
            </a:r>
            <a:br>
              <a:rPr lang="en-US" altLang="zh-CN" sz="2000" dirty="0">
                <a:latin typeface="Arial" panose="020B0604020202020204" pitchFamily="34" charset="0"/>
                <a:ea typeface="Linux Libertine" panose="02000503000000000000" pitchFamily="2" charset="0"/>
                <a:cs typeface="Arial" panose="020B0604020202020204" pitchFamily="34" charset="0"/>
              </a:rPr>
            </a:br>
            <a:r>
              <a:rPr lang="en-US" altLang="zh-CN" sz="2000" dirty="0">
                <a:latin typeface="Arial" panose="020B0604020202020204" pitchFamily="34" charset="0"/>
                <a:ea typeface="Linux Libertine" panose="02000503000000000000" pitchFamily="2" charset="0"/>
                <a:cs typeface="Arial" panose="020B0604020202020204" pitchFamily="34" charset="0"/>
              </a:rPr>
              <a:t>• </a:t>
            </a:r>
            <a:r>
              <a:rPr lang="en-US" altLang="zh-CN" sz="2000" b="1" dirty="0">
                <a:latin typeface="Arial" panose="020B0604020202020204" pitchFamily="34" charset="0"/>
                <a:ea typeface="Linux Libertine" panose="02000503000000000000" pitchFamily="2" charset="0"/>
                <a:cs typeface="Arial" panose="020B0604020202020204" pitchFamily="34" charset="0"/>
              </a:rPr>
              <a:t>Application Objective</a:t>
            </a:r>
            <a:r>
              <a:rPr lang="en-US" altLang="zh-CN" sz="2000" dirty="0">
                <a:latin typeface="Arial" panose="020B0604020202020204" pitchFamily="34" charset="0"/>
                <a:ea typeface="Linux Libertine" panose="02000503000000000000" pitchFamily="2" charset="0"/>
                <a:cs typeface="Arial" panose="020B0604020202020204" pitchFamily="34" charset="0"/>
              </a:rPr>
              <a:t>: Maximize Task Accuracy.</a:t>
            </a:r>
          </a:p>
          <a:p>
            <a:pPr>
              <a:spcBef>
                <a:spcPts val="0"/>
              </a:spcBef>
            </a:pPr>
            <a:endParaRPr lang="en-US" altLang="zh-CN" sz="2000" dirty="0">
              <a:latin typeface="Arial" panose="020B0604020202020204" pitchFamily="34" charset="0"/>
              <a:ea typeface="Linux Libertine" panose="02000503000000000000" pitchFamily="2" charset="0"/>
              <a:cs typeface="Arial" panose="020B0604020202020204" pitchFamily="34" charset="0"/>
            </a:endParaRPr>
          </a:p>
          <a:p>
            <a:pPr>
              <a:spcBef>
                <a:spcPts val="0"/>
              </a:spcBef>
            </a:pPr>
            <a:r>
              <a:rPr lang="en-US" altLang="zh-CN" sz="2000" dirty="0">
                <a:latin typeface="Arial" panose="020B0604020202020204" pitchFamily="34" charset="0"/>
                <a:ea typeface="Linux Libertine" panose="02000503000000000000" pitchFamily="2" charset="0"/>
                <a:cs typeface="Arial" panose="020B0604020202020204" pitchFamily="34" charset="0"/>
              </a:rPr>
              <a:t>The Consequence:</a:t>
            </a:r>
            <a:br>
              <a:rPr lang="en-US" altLang="zh-CN" sz="2000" dirty="0">
                <a:latin typeface="Arial" panose="020B0604020202020204" pitchFamily="34" charset="0"/>
                <a:ea typeface="Linux Libertine" panose="02000503000000000000" pitchFamily="2" charset="0"/>
                <a:cs typeface="Arial" panose="020B0604020202020204" pitchFamily="34" charset="0"/>
              </a:rPr>
            </a:br>
            <a:r>
              <a:rPr lang="en-US" altLang="zh-CN" sz="2000" dirty="0">
                <a:latin typeface="Arial" panose="020B0604020202020204" pitchFamily="34" charset="0"/>
                <a:ea typeface="Linux Libertine" panose="02000503000000000000" pitchFamily="2" charset="0"/>
                <a:cs typeface="Arial" panose="020B0604020202020204" pitchFamily="34" charset="0"/>
              </a:rPr>
              <a:t>In wireless settings with interference and fading, strict bit-fidelity forces retransmissions This kills latency for real-time applications.</a:t>
            </a:r>
            <a:endParaRPr lang="en-US" sz="2000" dirty="0">
              <a:latin typeface="Arial" panose="020B0604020202020204" pitchFamily="34" charset="0"/>
              <a:ea typeface="Linux Libertine" panose="02000503000000000000" pitchFamily="2" charset="0"/>
              <a:cs typeface="Arial" panose="020B0604020202020204" pitchFamily="34" charset="0"/>
            </a:endParaRPr>
          </a:p>
          <a:p>
            <a:pPr>
              <a:spcBef>
                <a:spcPts val="0"/>
              </a:spcBef>
            </a:pPr>
            <a:endParaRPr lang="en-US" sz="2000" dirty="0">
              <a:latin typeface="Arial" panose="020B0604020202020204" pitchFamily="34" charset="0"/>
              <a:ea typeface="Linux Libertine" panose="02000503000000000000" pitchFamily="2" charset="0"/>
              <a:cs typeface="Arial" panose="020B0604020202020204" pitchFamily="34" charset="0"/>
            </a:endParaRPr>
          </a:p>
        </p:txBody>
      </p:sp>
      <p:sp>
        <p:nvSpPr>
          <p:cNvPr id="3" name="矩形: 圆角 2">
            <a:extLst>
              <a:ext uri="{FF2B5EF4-FFF2-40B4-BE49-F238E27FC236}">
                <a16:creationId xmlns:a16="http://schemas.microsoft.com/office/drawing/2014/main" id="{50918975-6212-E0E4-2AF6-0C2219A2E428}"/>
              </a:ext>
            </a:extLst>
          </p:cNvPr>
          <p:cNvSpPr/>
          <p:nvPr/>
        </p:nvSpPr>
        <p:spPr>
          <a:xfrm>
            <a:off x="1463381" y="3913597"/>
            <a:ext cx="6820647" cy="1115603"/>
          </a:xfrm>
          <a:prstGeom prst="roundRect">
            <a:avLst>
              <a:gd name="adj" fmla="val 7225"/>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endParaRPr>
          </a:p>
        </p:txBody>
      </p:sp>
      <p:sp>
        <p:nvSpPr>
          <p:cNvPr id="8" name="Text Placeholder 2">
            <a:extLst>
              <a:ext uri="{FF2B5EF4-FFF2-40B4-BE49-F238E27FC236}">
                <a16:creationId xmlns:a16="http://schemas.microsoft.com/office/drawing/2014/main" id="{C955AAA9-188F-DA3C-FAC5-81383D633B30}"/>
              </a:ext>
            </a:extLst>
          </p:cNvPr>
          <p:cNvSpPr txBox="1">
            <a:spLocks/>
          </p:cNvSpPr>
          <p:nvPr/>
        </p:nvSpPr>
        <p:spPr>
          <a:xfrm>
            <a:off x="1729365" y="4027897"/>
            <a:ext cx="6369606" cy="1024447"/>
          </a:xfrm>
          <a:prstGeom prst="rect">
            <a:avLst/>
          </a:prstGeom>
        </p:spPr>
        <p:txBody>
          <a:bodyPr vert="horz" lIns="0" tIns="0" rIns="0" bIns="0" rtlCol="0">
            <a:normAutofit/>
          </a:bodyPr>
          <a:lstStyle>
            <a:lvl1pPr marL="2286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1pPr>
            <a:lvl2pPr marL="4572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2pPr>
            <a:lvl3pPr marL="6858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3pPr>
            <a:lvl4pPr marL="9144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4pPr>
            <a:lvl5pPr marL="11430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5pPr>
            <a:lvl6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6pPr>
            <a:lvl7pPr marL="4572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7pPr>
            <a:lvl8pPr marL="6858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8pPr>
            <a:lvl9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9pPr>
          </a:lstStyle>
          <a:p>
            <a:pPr marL="0" indent="0" hangingPunct="1">
              <a:spcBef>
                <a:spcPts val="0"/>
              </a:spcBef>
              <a:buNone/>
            </a:pPr>
            <a:r>
              <a:rPr lang="en-US" altLang="zh-CN" sz="1800" b="1" dirty="0">
                <a:latin typeface="Arial" panose="020B0604020202020204" pitchFamily="34" charset="0"/>
                <a:ea typeface="Linux Libertine" panose="02000503000000000000" pitchFamily="2" charset="0"/>
                <a:cs typeface="Arial" panose="020B0604020202020204" pitchFamily="34" charset="0"/>
              </a:rPr>
              <a:t>The Research Question</a:t>
            </a:r>
          </a:p>
          <a:p>
            <a:pPr marL="0" indent="0" hangingPunct="1">
              <a:spcBef>
                <a:spcPts val="0"/>
              </a:spcBef>
              <a:buNone/>
            </a:pPr>
            <a:r>
              <a:rPr lang="en-US" altLang="zh-CN" sz="1800" dirty="0">
                <a:latin typeface="Arial" panose="020B0604020202020204" pitchFamily="34" charset="0"/>
                <a:ea typeface="Linux Libertine" panose="02000503000000000000" pitchFamily="2" charset="0"/>
                <a:cs typeface="Arial" panose="020B0604020202020204" pitchFamily="34" charset="0"/>
              </a:rPr>
              <a:t>If the receiver is an AI model, do we really need to recover every bit to understand the semantic meaning?</a:t>
            </a:r>
            <a:endParaRPr lang="en-US" sz="1800" dirty="0">
              <a:latin typeface="Arial" panose="020B0604020202020204" pitchFamily="34" charset="0"/>
              <a:ea typeface="Linux Libertine" panose="02000503000000000000" pitchFamily="2" charset="0"/>
              <a:cs typeface="Arial" panose="020B0604020202020204" pitchFamily="34" charset="0"/>
            </a:endParaRPr>
          </a:p>
        </p:txBody>
      </p:sp>
    </p:spTree>
    <p:extLst>
      <p:ext uri="{BB962C8B-B14F-4D97-AF65-F5344CB8AC3E}">
        <p14:creationId xmlns:p14="http://schemas.microsoft.com/office/powerpoint/2010/main" val="228672131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C51D90-E2CF-1CD2-6333-181D1992316B}"/>
              </a:ext>
            </a:extLst>
          </p:cNvPr>
          <p:cNvSpPr>
            <a:spLocks noGrp="1"/>
          </p:cNvSpPr>
          <p:nvPr>
            <p:ph type="title"/>
          </p:nvPr>
        </p:nvSpPr>
        <p:spPr>
          <a:xfrm>
            <a:off x="248561" y="275273"/>
            <a:ext cx="7628709" cy="653653"/>
          </a:xfrm>
        </p:spPr>
        <p:txBody>
          <a:bodyPr/>
          <a:lstStyle/>
          <a:p>
            <a:r>
              <a:rPr lang="en-US" altLang="zh-CN" dirty="0"/>
              <a:t>Knowledge Driven Communication</a:t>
            </a:r>
            <a:endParaRPr lang="zh-CN" altLang="en-US" dirty="0"/>
          </a:p>
        </p:txBody>
      </p:sp>
      <p:sp>
        <p:nvSpPr>
          <p:cNvPr id="6" name="标题 1">
            <a:extLst>
              <a:ext uri="{FF2B5EF4-FFF2-40B4-BE49-F238E27FC236}">
                <a16:creationId xmlns:a16="http://schemas.microsoft.com/office/drawing/2014/main" id="{E5ED092F-A7EC-7F01-D4DC-3A448367A2DE}"/>
              </a:ext>
            </a:extLst>
          </p:cNvPr>
          <p:cNvSpPr txBox="1">
            <a:spLocks/>
          </p:cNvSpPr>
          <p:nvPr/>
        </p:nvSpPr>
        <p:spPr>
          <a:xfrm>
            <a:off x="457199" y="1639763"/>
            <a:ext cx="7564877" cy="653653"/>
          </a:xfrm>
          <a:prstGeom prst="rect">
            <a:avLst/>
          </a:prstGeom>
        </p:spPr>
        <p:txBody>
          <a:bodyPr vert="horz" lIns="0" tIns="0" rIns="0" bIns="0" rtlCol="0" anchor="t" anchorCtr="0">
            <a:normAutofit/>
          </a:bodyPr>
          <a:lstStyle>
            <a:lvl1pPr marL="0" marR="0" indent="0" algn="l" defTabSz="914377" rtl="0" latinLnBrk="0">
              <a:lnSpc>
                <a:spcPct val="80000"/>
              </a:lnSpc>
              <a:spcBef>
                <a:spcPts val="0"/>
              </a:spcBef>
              <a:spcAft>
                <a:spcPts val="0"/>
              </a:spcAft>
              <a:buClrTx/>
              <a:buSzTx/>
              <a:buFontTx/>
              <a:buNone/>
              <a:tabLst/>
              <a:defRPr sz="3400" b="1" i="0" u="none" strike="noStrike" cap="none" spc="0" baseline="0">
                <a:solidFill>
                  <a:schemeClr val="tx1"/>
                </a:solidFill>
                <a:uFillTx/>
                <a:latin typeface="Teko" pitchFamily="2" charset="77"/>
                <a:ea typeface="+mn-ea"/>
                <a:cs typeface="+mn-cs"/>
                <a:sym typeface="Teko Bold"/>
              </a:defRPr>
            </a:lvl1pPr>
            <a:lvl2pPr marL="0" marR="0" indent="1714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2pPr>
            <a:lvl3pPr marL="0" marR="0" indent="3429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3pPr>
            <a:lvl4pPr marL="0" marR="0" indent="5143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4pPr>
            <a:lvl5pPr marL="0" marR="0" indent="6858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5pPr>
            <a:lvl6pPr marL="0" marR="0" indent="8572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6pPr>
            <a:lvl7pPr marL="0" marR="0" indent="10287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7pPr>
            <a:lvl8pPr marL="0" marR="0" indent="12001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8pPr>
            <a:lvl9pPr marL="0" marR="0" indent="13716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9pPr>
          </a:lstStyle>
          <a:p>
            <a:pPr hangingPunct="1"/>
            <a:r>
              <a:rPr lang="en-US" altLang="zh-CN" sz="2400" b="0" dirty="0"/>
              <a:t>Transmit </a:t>
            </a:r>
            <a:r>
              <a:rPr lang="en-US" altLang="zh-CN" sz="2400" dirty="0">
                <a:solidFill>
                  <a:srgbClr val="C00000"/>
                </a:solidFill>
              </a:rPr>
              <a:t>Knowledge</a:t>
            </a:r>
            <a:r>
              <a:rPr lang="en-US" altLang="zh-CN" sz="2400" b="0" dirty="0"/>
              <a:t> (Tokens), Not </a:t>
            </a:r>
            <a:r>
              <a:rPr lang="en-US" altLang="zh-CN" sz="2400" dirty="0">
                <a:solidFill>
                  <a:srgbClr val="C00000"/>
                </a:solidFill>
              </a:rPr>
              <a:t>Data</a:t>
            </a:r>
            <a:r>
              <a:rPr lang="en-US" altLang="zh-CN" sz="2400" b="0" dirty="0"/>
              <a:t> (Bits)</a:t>
            </a:r>
            <a:endParaRPr lang="zh-CN" altLang="en-US" sz="2400" b="0" dirty="0"/>
          </a:p>
        </p:txBody>
      </p:sp>
      <p:sp>
        <p:nvSpPr>
          <p:cNvPr id="8" name="文本框 7">
            <a:extLst>
              <a:ext uri="{FF2B5EF4-FFF2-40B4-BE49-F238E27FC236}">
                <a16:creationId xmlns:a16="http://schemas.microsoft.com/office/drawing/2014/main" id="{30EECC5B-F782-6A72-66AF-B57A9D8A614D}"/>
              </a:ext>
            </a:extLst>
          </p:cNvPr>
          <p:cNvSpPr txBox="1"/>
          <p:nvPr/>
        </p:nvSpPr>
        <p:spPr>
          <a:xfrm>
            <a:off x="136186" y="2616707"/>
            <a:ext cx="8424153"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800" b="1" dirty="0">
                <a:latin typeface="Arial" panose="020B0604020202020204" pitchFamily="34" charset="0"/>
                <a:cs typeface="Arial" panose="020B0604020202020204" pitchFamily="34" charset="0"/>
              </a:rPr>
              <a:t>“The quick brown         jumps over the lazy dog”</a:t>
            </a:r>
            <a:endParaRPr lang="zh-CN" altLang="en-US" sz="2800" b="1" dirty="0">
              <a:latin typeface="Arial" panose="020B0604020202020204" pitchFamily="34" charset="0"/>
              <a:cs typeface="Arial" panose="020B0604020202020204" pitchFamily="34" charset="0"/>
            </a:endParaRPr>
          </a:p>
        </p:txBody>
      </p:sp>
      <p:sp>
        <p:nvSpPr>
          <p:cNvPr id="9" name="矩形 8">
            <a:extLst>
              <a:ext uri="{FF2B5EF4-FFF2-40B4-BE49-F238E27FC236}">
                <a16:creationId xmlns:a16="http://schemas.microsoft.com/office/drawing/2014/main" id="{A48198E1-AE53-780F-21B2-8D74BC72A6E8}"/>
              </a:ext>
            </a:extLst>
          </p:cNvPr>
          <p:cNvSpPr/>
          <p:nvPr/>
        </p:nvSpPr>
        <p:spPr>
          <a:xfrm>
            <a:off x="3347325" y="2733074"/>
            <a:ext cx="755515" cy="369980"/>
          </a:xfrm>
          <a:prstGeom prst="rect">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endParaRPr>
          </a:p>
        </p:txBody>
      </p:sp>
      <p:sp>
        <p:nvSpPr>
          <p:cNvPr id="12" name="文本框 11">
            <a:extLst>
              <a:ext uri="{FF2B5EF4-FFF2-40B4-BE49-F238E27FC236}">
                <a16:creationId xmlns:a16="http://schemas.microsoft.com/office/drawing/2014/main" id="{1567B658-5643-11C2-1743-80EF99A584FE}"/>
              </a:ext>
            </a:extLst>
          </p:cNvPr>
          <p:cNvSpPr txBox="1"/>
          <p:nvPr/>
        </p:nvSpPr>
        <p:spPr>
          <a:xfrm>
            <a:off x="3387247" y="2394520"/>
            <a:ext cx="675669"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1600" b="1" dirty="0">
                <a:solidFill>
                  <a:srgbClr val="C00000"/>
                </a:solidFill>
              </a:rPr>
              <a:t>Lost</a:t>
            </a:r>
            <a:endParaRPr lang="zh-CN" altLang="en-US" sz="1600" b="1" dirty="0"/>
          </a:p>
        </p:txBody>
      </p:sp>
      <p:sp>
        <p:nvSpPr>
          <p:cNvPr id="16" name="文本框 15">
            <a:extLst>
              <a:ext uri="{FF2B5EF4-FFF2-40B4-BE49-F238E27FC236}">
                <a16:creationId xmlns:a16="http://schemas.microsoft.com/office/drawing/2014/main" id="{E9E48179-D3CB-9D4B-579F-4D35114EE65F}"/>
              </a:ext>
            </a:extLst>
          </p:cNvPr>
          <p:cNvSpPr txBox="1"/>
          <p:nvPr/>
        </p:nvSpPr>
        <p:spPr>
          <a:xfrm>
            <a:off x="3461825" y="3362113"/>
            <a:ext cx="3835941"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000" b="1" dirty="0">
                <a:latin typeface="Arial" panose="020B0604020202020204" pitchFamily="34" charset="0"/>
                <a:cs typeface="Arial" panose="020B0604020202020204" pitchFamily="34" charset="0"/>
              </a:rPr>
              <a:t>Inference: “Fox”</a:t>
            </a:r>
            <a:endParaRPr lang="zh-CN" altLang="en-US" sz="2000" b="1" dirty="0">
              <a:latin typeface="Arial" panose="020B0604020202020204" pitchFamily="34" charset="0"/>
              <a:cs typeface="Arial" panose="020B0604020202020204" pitchFamily="34" charset="0"/>
            </a:endParaRPr>
          </a:p>
        </p:txBody>
      </p:sp>
      <p:cxnSp>
        <p:nvCxnSpPr>
          <p:cNvPr id="18" name="连接符: 肘形 17">
            <a:extLst>
              <a:ext uri="{FF2B5EF4-FFF2-40B4-BE49-F238E27FC236}">
                <a16:creationId xmlns:a16="http://schemas.microsoft.com/office/drawing/2014/main" id="{B40D7F62-9CA2-5F14-8F39-124F546A3F47}"/>
              </a:ext>
            </a:extLst>
          </p:cNvPr>
          <p:cNvCxnSpPr>
            <a:cxnSpLocks/>
          </p:cNvCxnSpPr>
          <p:nvPr/>
        </p:nvCxnSpPr>
        <p:spPr>
          <a:xfrm rot="16200000" flipH="1">
            <a:off x="3790901" y="3066735"/>
            <a:ext cx="459115" cy="590755"/>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39232772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DC system workflow: task-aware transmitter, codec wrapper, and knowledge-conditioned receiver">
            <a:extLst>
              <a:ext uri="{FF2B5EF4-FFF2-40B4-BE49-F238E27FC236}">
                <a16:creationId xmlns:a16="http://schemas.microsoft.com/office/drawing/2014/main" id="{694E95B0-6587-D005-E2C5-05A87FE95CB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7290" y="849494"/>
            <a:ext cx="6789420" cy="3754219"/>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7BEC99DB-2329-7FFE-15E4-F536624AD9A1}"/>
              </a:ext>
            </a:extLst>
          </p:cNvPr>
          <p:cNvSpPr>
            <a:spLocks noGrp="1"/>
          </p:cNvSpPr>
          <p:nvPr>
            <p:ph type="title"/>
          </p:nvPr>
        </p:nvSpPr>
        <p:spPr>
          <a:xfrm>
            <a:off x="102869" y="275273"/>
            <a:ext cx="7628709" cy="653653"/>
          </a:xfrm>
        </p:spPr>
        <p:txBody>
          <a:bodyPr>
            <a:normAutofit/>
          </a:bodyPr>
          <a:lstStyle/>
          <a:p>
            <a:r>
              <a:rPr lang="en-US" altLang="zh-CN" sz="3200" dirty="0"/>
              <a:t>Knowledge Driven Communication</a:t>
            </a:r>
            <a:endParaRPr lang="zh-CN" altLang="en-US" sz="3200" dirty="0"/>
          </a:p>
        </p:txBody>
      </p:sp>
    </p:spTree>
    <p:extLst>
      <p:ext uri="{BB962C8B-B14F-4D97-AF65-F5344CB8AC3E}">
        <p14:creationId xmlns:p14="http://schemas.microsoft.com/office/powerpoint/2010/main" val="12700134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图片 76">
            <a:extLst>
              <a:ext uri="{FF2B5EF4-FFF2-40B4-BE49-F238E27FC236}">
                <a16:creationId xmlns:a16="http://schemas.microsoft.com/office/drawing/2014/main" id="{AB747514-6004-74D9-A051-F78A90811672}"/>
              </a:ext>
            </a:extLst>
          </p:cNvPr>
          <p:cNvPicPr>
            <a:picLocks noChangeAspect="1"/>
          </p:cNvPicPr>
          <p:nvPr/>
        </p:nvPicPr>
        <p:blipFill>
          <a:blip r:embed="rId3"/>
          <a:stretch>
            <a:fillRect/>
          </a:stretch>
        </p:blipFill>
        <p:spPr>
          <a:xfrm>
            <a:off x="714946" y="1748061"/>
            <a:ext cx="7714108" cy="1776189"/>
          </a:xfrm>
          <a:prstGeom prst="rect">
            <a:avLst/>
          </a:prstGeom>
        </p:spPr>
      </p:pic>
      <p:sp>
        <p:nvSpPr>
          <p:cNvPr id="78" name="标题 1">
            <a:extLst>
              <a:ext uri="{FF2B5EF4-FFF2-40B4-BE49-F238E27FC236}">
                <a16:creationId xmlns:a16="http://schemas.microsoft.com/office/drawing/2014/main" id="{DDA88E5F-5755-B072-18C5-56A686763852}"/>
              </a:ext>
            </a:extLst>
          </p:cNvPr>
          <p:cNvSpPr>
            <a:spLocks noGrp="1"/>
          </p:cNvSpPr>
          <p:nvPr>
            <p:ph type="title"/>
          </p:nvPr>
        </p:nvSpPr>
        <p:spPr>
          <a:xfrm>
            <a:off x="176348" y="404813"/>
            <a:ext cx="7504611" cy="653653"/>
          </a:xfrm>
        </p:spPr>
        <p:txBody>
          <a:bodyPr/>
          <a:lstStyle/>
          <a:p>
            <a:r>
              <a:rPr lang="en-US" altLang="zh-CN" dirty="0"/>
              <a:t>Knowledge Driven Communication</a:t>
            </a:r>
            <a:endParaRPr lang="zh-CN" altLang="en-US" dirty="0"/>
          </a:p>
        </p:txBody>
      </p:sp>
      <p:sp>
        <p:nvSpPr>
          <p:cNvPr id="2" name="文本框 1">
            <a:extLst>
              <a:ext uri="{FF2B5EF4-FFF2-40B4-BE49-F238E27FC236}">
                <a16:creationId xmlns:a16="http://schemas.microsoft.com/office/drawing/2014/main" id="{BDDA4571-4BD9-D767-71BF-E1E8D2372031}"/>
              </a:ext>
            </a:extLst>
          </p:cNvPr>
          <p:cNvSpPr txBox="1"/>
          <p:nvPr/>
        </p:nvSpPr>
        <p:spPr>
          <a:xfrm>
            <a:off x="807968" y="1462644"/>
            <a:ext cx="7322571"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000" b="1" dirty="0">
                <a:solidFill>
                  <a:srgbClr val="000000"/>
                </a:solidFill>
                <a:latin typeface="Arial" panose="020B0604020202020204" pitchFamily="34" charset="0"/>
                <a:cs typeface="Arial" panose="020B0604020202020204" pitchFamily="34" charset="0"/>
              </a:rPr>
              <a:t>Intelligent Communication via Knowledge Base</a:t>
            </a:r>
          </a:p>
        </p:txBody>
      </p:sp>
      <p:sp>
        <p:nvSpPr>
          <p:cNvPr id="3" name="文本框 2">
            <a:extLst>
              <a:ext uri="{FF2B5EF4-FFF2-40B4-BE49-F238E27FC236}">
                <a16:creationId xmlns:a16="http://schemas.microsoft.com/office/drawing/2014/main" id="{17683BA4-9A7E-103E-D05E-3C922A7B582D}"/>
              </a:ext>
            </a:extLst>
          </p:cNvPr>
          <p:cNvSpPr txBox="1"/>
          <p:nvPr/>
        </p:nvSpPr>
        <p:spPr>
          <a:xfrm>
            <a:off x="807967" y="3524250"/>
            <a:ext cx="7322571"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000" b="1" dirty="0">
                <a:solidFill>
                  <a:srgbClr val="000000"/>
                </a:solidFill>
                <a:latin typeface="Arial" panose="020B0604020202020204" pitchFamily="34" charset="0"/>
                <a:cs typeface="Arial" panose="020B0604020202020204" pitchFamily="34" charset="0"/>
              </a:rPr>
              <a:t>Both side has knowledge regarding the context</a:t>
            </a:r>
          </a:p>
        </p:txBody>
      </p:sp>
    </p:spTree>
    <p:extLst>
      <p:ext uri="{BB962C8B-B14F-4D97-AF65-F5344CB8AC3E}">
        <p14:creationId xmlns:p14="http://schemas.microsoft.com/office/powerpoint/2010/main" val="199578167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313D7-71B6-838F-80FE-F3F3D4882258}"/>
            </a:ext>
          </a:extLst>
        </p:cNvPr>
        <p:cNvGrpSpPr/>
        <p:nvPr/>
      </p:nvGrpSpPr>
      <p:grpSpPr>
        <a:xfrm>
          <a:off x="0" y="0"/>
          <a:ext cx="0" cy="0"/>
          <a:chOff x="0" y="0"/>
          <a:chExt cx="0" cy="0"/>
        </a:xfrm>
      </p:grpSpPr>
      <p:sp>
        <p:nvSpPr>
          <p:cNvPr id="36" name="矩形: 圆角 35">
            <a:extLst>
              <a:ext uri="{FF2B5EF4-FFF2-40B4-BE49-F238E27FC236}">
                <a16:creationId xmlns:a16="http://schemas.microsoft.com/office/drawing/2014/main" id="{5C16C728-442C-A2B4-9AB4-4EDDFB03576C}"/>
              </a:ext>
            </a:extLst>
          </p:cNvPr>
          <p:cNvSpPr/>
          <p:nvPr/>
        </p:nvSpPr>
        <p:spPr>
          <a:xfrm>
            <a:off x="4868886" y="1901849"/>
            <a:ext cx="4072890" cy="1615440"/>
          </a:xfrm>
          <a:prstGeom prst="roundRect">
            <a:avLst>
              <a:gd name="adj" fmla="val 9827"/>
            </a:avLst>
          </a:prstGeom>
          <a:solidFill>
            <a:schemeClr val="bg1"/>
          </a:solidFill>
          <a:ln w="25400" cap="flat">
            <a:solidFill>
              <a:srgbClr val="8C8C8C"/>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Source Sans 3 Medium"/>
              <a:ea typeface="Source Sans 3 Medium"/>
              <a:cs typeface="Source Sans 3 Medium"/>
              <a:sym typeface="Source Sans 3 Medium"/>
            </a:endParaRPr>
          </a:p>
        </p:txBody>
      </p:sp>
      <p:sp>
        <p:nvSpPr>
          <p:cNvPr id="35" name="矩形: 圆角 34">
            <a:extLst>
              <a:ext uri="{FF2B5EF4-FFF2-40B4-BE49-F238E27FC236}">
                <a16:creationId xmlns:a16="http://schemas.microsoft.com/office/drawing/2014/main" id="{90D12FA9-8F43-696D-C7F2-21931C05FB70}"/>
              </a:ext>
            </a:extLst>
          </p:cNvPr>
          <p:cNvSpPr/>
          <p:nvPr/>
        </p:nvSpPr>
        <p:spPr>
          <a:xfrm>
            <a:off x="202226" y="1901849"/>
            <a:ext cx="4072890" cy="1615440"/>
          </a:xfrm>
          <a:prstGeom prst="roundRect">
            <a:avLst>
              <a:gd name="adj" fmla="val 9827"/>
            </a:avLst>
          </a:prstGeom>
          <a:solidFill>
            <a:schemeClr val="bg1"/>
          </a:solidFill>
          <a:ln w="25400" cap="flat">
            <a:solidFill>
              <a:srgbClr val="8C8C8C"/>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Source Sans 3 Medium"/>
              <a:ea typeface="Source Sans 3 Medium"/>
              <a:cs typeface="Source Sans 3 Medium"/>
              <a:sym typeface="Source Sans 3 Medium"/>
            </a:endParaRPr>
          </a:p>
        </p:txBody>
      </p:sp>
      <p:sp>
        <p:nvSpPr>
          <p:cNvPr id="21" name="矩形 20">
            <a:extLst>
              <a:ext uri="{FF2B5EF4-FFF2-40B4-BE49-F238E27FC236}">
                <a16:creationId xmlns:a16="http://schemas.microsoft.com/office/drawing/2014/main" id="{5B6EF485-1E9D-6729-2D4F-60B9FED0C2B6}"/>
              </a:ext>
            </a:extLst>
          </p:cNvPr>
          <p:cNvSpPr/>
          <p:nvPr/>
        </p:nvSpPr>
        <p:spPr>
          <a:xfrm>
            <a:off x="318248" y="2063258"/>
            <a:ext cx="3834652" cy="552353"/>
          </a:xfrm>
          <a:prstGeom prst="rect">
            <a:avLst/>
          </a:prstGeom>
          <a:solidFill>
            <a:schemeClr val="accent6">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Source Sans 3 Medium"/>
              <a:ea typeface="Source Sans 3 Medium"/>
              <a:cs typeface="Source Sans 3 Medium"/>
              <a:sym typeface="Source Sans 3 Medium"/>
            </a:endParaRPr>
          </a:p>
        </p:txBody>
      </p:sp>
      <p:pic>
        <p:nvPicPr>
          <p:cNvPr id="9" name="UCSD-BrandRefresh-PPTBackgrounds-v4_Blues-NotchTopBottom.png">
            <a:extLst>
              <a:ext uri="{FF2B5EF4-FFF2-40B4-BE49-F238E27FC236}">
                <a16:creationId xmlns:a16="http://schemas.microsoft.com/office/drawing/2014/main" id="{53C8A236-C7B4-646F-23ED-FAA773E96174}"/>
              </a:ext>
              <a:ext uri="{C183D7F6-B498-43B3-948B-1728B52AA6E4}">
                <adec:decorative xmlns:adec="http://schemas.microsoft.com/office/drawing/2017/decorative" val="1"/>
              </a:ext>
            </a:extLst>
          </p:cNvPr>
          <p:cNvPicPr>
            <a:picLocks noChangeAspect="1"/>
          </p:cNvPicPr>
          <p:nvPr/>
        </p:nvPicPr>
        <p:blipFill rotWithShape="1">
          <a:blip r:embed="rId3"/>
          <a:srcRect t="92044"/>
          <a:stretch/>
        </p:blipFill>
        <p:spPr>
          <a:xfrm>
            <a:off x="-4763" y="4759311"/>
            <a:ext cx="9148763" cy="409576"/>
          </a:xfrm>
          <a:prstGeom prst="rect">
            <a:avLst/>
          </a:prstGeom>
          <a:ln w="12700">
            <a:miter lim="400000"/>
          </a:ln>
        </p:spPr>
      </p:pic>
      <p:pic>
        <p:nvPicPr>
          <p:cNvPr id="8" name="UCSD-BrandRefresh-PPTBackgrounds-v4_Blues-NotchTopBottom.png">
            <a:extLst>
              <a:ext uri="{FF2B5EF4-FFF2-40B4-BE49-F238E27FC236}">
                <a16:creationId xmlns:a16="http://schemas.microsoft.com/office/drawing/2014/main" id="{DCF8A711-1DB1-22A8-0D17-60BC7637DA1C}"/>
              </a:ext>
              <a:ext uri="{C183D7F6-B498-43B3-948B-1728B52AA6E4}">
                <adec:decorative xmlns:adec="http://schemas.microsoft.com/office/drawing/2017/decorative" val="1"/>
              </a:ext>
            </a:extLst>
          </p:cNvPr>
          <p:cNvPicPr>
            <a:picLocks noChangeAspect="1"/>
          </p:cNvPicPr>
          <p:nvPr/>
        </p:nvPicPr>
        <p:blipFill rotWithShape="1">
          <a:blip r:embed="rId3"/>
          <a:srcRect b="85199"/>
          <a:stretch/>
        </p:blipFill>
        <p:spPr>
          <a:xfrm>
            <a:off x="0" y="1"/>
            <a:ext cx="9148763" cy="762000"/>
          </a:xfrm>
          <a:prstGeom prst="rect">
            <a:avLst/>
          </a:prstGeom>
          <a:ln w="12700">
            <a:miter lim="400000"/>
          </a:ln>
        </p:spPr>
      </p:pic>
      <p:pic>
        <p:nvPicPr>
          <p:cNvPr id="10" name="UCSanDiegoLogo-White.png">
            <a:extLst>
              <a:ext uri="{FF2B5EF4-FFF2-40B4-BE49-F238E27FC236}">
                <a16:creationId xmlns:a16="http://schemas.microsoft.com/office/drawing/2014/main" id="{3E6A3399-80CA-5370-57BA-A284C52972EC}"/>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7538831" y="240172"/>
            <a:ext cx="1377806" cy="258338"/>
          </a:xfrm>
          <a:prstGeom prst="rect">
            <a:avLst/>
          </a:prstGeom>
          <a:ln w="12700">
            <a:miter lim="400000"/>
          </a:ln>
        </p:spPr>
      </p:pic>
      <p:sp>
        <p:nvSpPr>
          <p:cNvPr id="4" name="Title 3">
            <a:extLst>
              <a:ext uri="{FF2B5EF4-FFF2-40B4-BE49-F238E27FC236}">
                <a16:creationId xmlns:a16="http://schemas.microsoft.com/office/drawing/2014/main" id="{C769C0AB-D758-08C6-721D-4204B84F6EF2}"/>
              </a:ext>
            </a:extLst>
          </p:cNvPr>
          <p:cNvSpPr>
            <a:spLocks noGrp="1"/>
          </p:cNvSpPr>
          <p:nvPr>
            <p:ph type="title"/>
          </p:nvPr>
        </p:nvSpPr>
        <p:spPr>
          <a:xfrm>
            <a:off x="457200" y="404813"/>
            <a:ext cx="7316804" cy="653653"/>
          </a:xfrm>
        </p:spPr>
        <p:txBody>
          <a:bodyPr>
            <a:normAutofit/>
          </a:bodyPr>
          <a:lstStyle/>
          <a:p>
            <a:r>
              <a:rPr lang="en-US" altLang="zh-CN" dirty="0"/>
              <a:t>System Architecture Overview</a:t>
            </a:r>
            <a:endParaRPr lang="en-US" dirty="0"/>
          </a:p>
        </p:txBody>
      </p:sp>
      <p:sp>
        <p:nvSpPr>
          <p:cNvPr id="2" name="矩形: 圆角 1">
            <a:extLst>
              <a:ext uri="{FF2B5EF4-FFF2-40B4-BE49-F238E27FC236}">
                <a16:creationId xmlns:a16="http://schemas.microsoft.com/office/drawing/2014/main" id="{168B3BE3-E256-6FDB-BC35-39DE9B5E0795}"/>
              </a:ext>
            </a:extLst>
          </p:cNvPr>
          <p:cNvSpPr/>
          <p:nvPr/>
        </p:nvSpPr>
        <p:spPr>
          <a:xfrm>
            <a:off x="406520" y="2192021"/>
            <a:ext cx="1407682" cy="317818"/>
          </a:xfrm>
          <a:prstGeom prst="roundRect">
            <a:avLst/>
          </a:prstGeom>
          <a:solidFill>
            <a:srgbClr val="FFF2CC"/>
          </a:solidFill>
          <a:ln w="127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rPr>
              <a:t>Task Prompts</a:t>
            </a:r>
            <a:endParaRPr kumimoji="0" lang="zh-CN" altLang="en-US"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sp>
        <p:nvSpPr>
          <p:cNvPr id="5" name="矩形: 圆角 4">
            <a:extLst>
              <a:ext uri="{FF2B5EF4-FFF2-40B4-BE49-F238E27FC236}">
                <a16:creationId xmlns:a16="http://schemas.microsoft.com/office/drawing/2014/main" id="{DAA2B9F3-0F1A-CE03-E119-160642E4A07E}"/>
              </a:ext>
            </a:extLst>
          </p:cNvPr>
          <p:cNvSpPr/>
          <p:nvPr/>
        </p:nvSpPr>
        <p:spPr>
          <a:xfrm>
            <a:off x="2194567" y="2889620"/>
            <a:ext cx="861053" cy="317818"/>
          </a:xfrm>
          <a:prstGeom prst="roundRect">
            <a:avLst/>
          </a:prstGeom>
          <a:solidFill>
            <a:srgbClr val="FFF2CC"/>
          </a:solidFill>
          <a:ln w="127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rPr>
              <a:t>Operator</a:t>
            </a:r>
            <a:endParaRPr kumimoji="0" lang="zh-CN" altLang="en-US"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sp>
        <p:nvSpPr>
          <p:cNvPr id="6" name="矩形: 圆角 5">
            <a:extLst>
              <a:ext uri="{FF2B5EF4-FFF2-40B4-BE49-F238E27FC236}">
                <a16:creationId xmlns:a16="http://schemas.microsoft.com/office/drawing/2014/main" id="{4CBC2A52-C3E0-3ED9-F71E-725EC02D9A93}"/>
              </a:ext>
            </a:extLst>
          </p:cNvPr>
          <p:cNvSpPr/>
          <p:nvPr/>
        </p:nvSpPr>
        <p:spPr>
          <a:xfrm>
            <a:off x="3444490" y="2889620"/>
            <a:ext cx="708410" cy="317818"/>
          </a:xfrm>
          <a:prstGeom prst="roundRect">
            <a:avLst/>
          </a:prstGeom>
          <a:solidFill>
            <a:srgbClr val="FFF2CC"/>
          </a:solidFill>
          <a:ln w="127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rPr>
              <a:t>Tokens</a:t>
            </a:r>
            <a:endParaRPr kumimoji="0" lang="zh-CN" altLang="en-US"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sp>
        <p:nvSpPr>
          <p:cNvPr id="13" name="矩形: 圆角 12">
            <a:extLst>
              <a:ext uri="{FF2B5EF4-FFF2-40B4-BE49-F238E27FC236}">
                <a16:creationId xmlns:a16="http://schemas.microsoft.com/office/drawing/2014/main" id="{58C5A0F5-FCFE-4D3E-B506-F3D45E7D1729}"/>
              </a:ext>
            </a:extLst>
          </p:cNvPr>
          <p:cNvSpPr/>
          <p:nvPr/>
        </p:nvSpPr>
        <p:spPr>
          <a:xfrm>
            <a:off x="2045972" y="2192021"/>
            <a:ext cx="1155809" cy="317818"/>
          </a:xfrm>
          <a:prstGeom prst="roundRect">
            <a:avLst/>
          </a:prstGeom>
          <a:solidFill>
            <a:srgbClr val="FFF2CC"/>
          </a:solidFill>
          <a:ln w="127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rPr>
              <a:t>LLM</a:t>
            </a:r>
            <a:endParaRPr kumimoji="0" lang="zh-CN" altLang="en-US"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pic>
        <p:nvPicPr>
          <p:cNvPr id="17" name="Google Shape;179;p9" descr="图示&#10;&#10;AI 生成的内容可能不正确。">
            <a:extLst>
              <a:ext uri="{FF2B5EF4-FFF2-40B4-BE49-F238E27FC236}">
                <a16:creationId xmlns:a16="http://schemas.microsoft.com/office/drawing/2014/main" id="{AD0A9A65-4878-52BD-6592-D2539894C240}"/>
              </a:ext>
            </a:extLst>
          </p:cNvPr>
          <p:cNvPicPr preferRelativeResize="0"/>
          <p:nvPr/>
        </p:nvPicPr>
        <p:blipFill rotWithShape="1">
          <a:blip r:embed="rId5">
            <a:alphaModFix/>
          </a:blip>
          <a:srcRect l="3157" t="18288" r="64231" b="60449"/>
          <a:stretch>
            <a:fillRect/>
          </a:stretch>
        </p:blipFill>
        <p:spPr>
          <a:xfrm>
            <a:off x="318248" y="2721701"/>
            <a:ext cx="1750766" cy="615859"/>
          </a:xfrm>
          <a:prstGeom prst="rect">
            <a:avLst/>
          </a:prstGeom>
          <a:noFill/>
          <a:ln>
            <a:noFill/>
          </a:ln>
        </p:spPr>
      </p:pic>
      <p:cxnSp>
        <p:nvCxnSpPr>
          <p:cNvPr id="19" name="直接箭头连接符 18">
            <a:extLst>
              <a:ext uri="{FF2B5EF4-FFF2-40B4-BE49-F238E27FC236}">
                <a16:creationId xmlns:a16="http://schemas.microsoft.com/office/drawing/2014/main" id="{4A8612AA-C8A7-84BA-504A-F0D7BFDCB201}"/>
              </a:ext>
            </a:extLst>
          </p:cNvPr>
          <p:cNvCxnSpPr>
            <a:cxnSpLocks/>
          </p:cNvCxnSpPr>
          <p:nvPr/>
        </p:nvCxnSpPr>
        <p:spPr>
          <a:xfrm>
            <a:off x="1953156" y="3087761"/>
            <a:ext cx="231715"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0" name="直接箭头连接符 19">
            <a:extLst>
              <a:ext uri="{FF2B5EF4-FFF2-40B4-BE49-F238E27FC236}">
                <a16:creationId xmlns:a16="http://schemas.microsoft.com/office/drawing/2014/main" id="{3F71A7F4-30EF-0499-124B-C8B2EC1B4768}"/>
              </a:ext>
            </a:extLst>
          </p:cNvPr>
          <p:cNvCxnSpPr>
            <a:cxnSpLocks/>
          </p:cNvCxnSpPr>
          <p:nvPr/>
        </p:nvCxnSpPr>
        <p:spPr>
          <a:xfrm>
            <a:off x="3055620" y="3050853"/>
            <a:ext cx="351257" cy="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22" name="Google Shape;179;p9" descr="图示&#10;&#10;AI 生成的内容可能不正确。">
            <a:extLst>
              <a:ext uri="{FF2B5EF4-FFF2-40B4-BE49-F238E27FC236}">
                <a16:creationId xmlns:a16="http://schemas.microsoft.com/office/drawing/2014/main" id="{A50468DB-3B8C-6D38-9ED2-B5D4172D07DD}"/>
              </a:ext>
            </a:extLst>
          </p:cNvPr>
          <p:cNvPicPr preferRelativeResize="0"/>
          <p:nvPr/>
        </p:nvPicPr>
        <p:blipFill rotWithShape="1">
          <a:blip r:embed="rId5">
            <a:alphaModFix/>
          </a:blip>
          <a:srcRect l="56047" t="75740" b="1693"/>
          <a:stretch>
            <a:fillRect/>
          </a:stretch>
        </p:blipFill>
        <p:spPr>
          <a:xfrm>
            <a:off x="6467286" y="2804401"/>
            <a:ext cx="2359598" cy="653652"/>
          </a:xfrm>
          <a:prstGeom prst="rect">
            <a:avLst/>
          </a:prstGeom>
          <a:noFill/>
          <a:ln>
            <a:noFill/>
          </a:ln>
        </p:spPr>
      </p:pic>
      <p:sp>
        <p:nvSpPr>
          <p:cNvPr id="23" name="矩形: 圆角 22">
            <a:extLst>
              <a:ext uri="{FF2B5EF4-FFF2-40B4-BE49-F238E27FC236}">
                <a16:creationId xmlns:a16="http://schemas.microsoft.com/office/drawing/2014/main" id="{F50B7AEA-F828-480C-8B16-C968131E2B18}"/>
              </a:ext>
            </a:extLst>
          </p:cNvPr>
          <p:cNvSpPr/>
          <p:nvPr/>
        </p:nvSpPr>
        <p:spPr>
          <a:xfrm>
            <a:off x="5087344" y="2889620"/>
            <a:ext cx="1155809" cy="317818"/>
          </a:xfrm>
          <a:prstGeom prst="roundRect">
            <a:avLst/>
          </a:prstGeom>
          <a:solidFill>
            <a:schemeClr val="tx1">
              <a:lumMod val="25000"/>
              <a:lumOff val="75000"/>
            </a:schemeClr>
          </a:solidFill>
          <a:ln w="127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rPr>
              <a:t>Restoration</a:t>
            </a:r>
            <a:endParaRPr kumimoji="0" lang="zh-CN" altLang="en-US"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cxnSp>
        <p:nvCxnSpPr>
          <p:cNvPr id="25" name="直接箭头连接符 24">
            <a:extLst>
              <a:ext uri="{FF2B5EF4-FFF2-40B4-BE49-F238E27FC236}">
                <a16:creationId xmlns:a16="http://schemas.microsoft.com/office/drawing/2014/main" id="{B99E45E5-D2CB-26E9-C85C-9920CBFF7E6E}"/>
              </a:ext>
            </a:extLst>
          </p:cNvPr>
          <p:cNvCxnSpPr>
            <a:cxnSpLocks/>
          </p:cNvCxnSpPr>
          <p:nvPr/>
        </p:nvCxnSpPr>
        <p:spPr>
          <a:xfrm>
            <a:off x="6243153" y="3043470"/>
            <a:ext cx="351257" cy="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6" name="矩形: 圆角 25">
            <a:extLst>
              <a:ext uri="{FF2B5EF4-FFF2-40B4-BE49-F238E27FC236}">
                <a16:creationId xmlns:a16="http://schemas.microsoft.com/office/drawing/2014/main" id="{3E671725-5BDC-52EB-8102-8D09C547575B}"/>
              </a:ext>
            </a:extLst>
          </p:cNvPr>
          <p:cNvSpPr/>
          <p:nvPr/>
        </p:nvSpPr>
        <p:spPr>
          <a:xfrm>
            <a:off x="5087344" y="2223135"/>
            <a:ext cx="1570508" cy="317818"/>
          </a:xfrm>
          <a:prstGeom prst="roundRect">
            <a:avLst/>
          </a:prstGeom>
          <a:solidFill>
            <a:schemeClr val="tx1">
              <a:lumMod val="25000"/>
              <a:lumOff val="75000"/>
            </a:schemeClr>
          </a:solidFill>
          <a:ln w="127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rPr>
              <a:t>Knowledge Bases</a:t>
            </a:r>
            <a:endParaRPr kumimoji="0" lang="zh-CN" altLang="en-US"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cxnSp>
        <p:nvCxnSpPr>
          <p:cNvPr id="27" name="直接箭头连接符 26">
            <a:extLst>
              <a:ext uri="{FF2B5EF4-FFF2-40B4-BE49-F238E27FC236}">
                <a16:creationId xmlns:a16="http://schemas.microsoft.com/office/drawing/2014/main" id="{2316EE26-88C3-8F22-0511-66279E7F89F2}"/>
              </a:ext>
            </a:extLst>
          </p:cNvPr>
          <p:cNvCxnSpPr>
            <a:cxnSpLocks/>
          </p:cNvCxnSpPr>
          <p:nvPr/>
        </p:nvCxnSpPr>
        <p:spPr>
          <a:xfrm>
            <a:off x="5499546" y="2540953"/>
            <a:ext cx="0" cy="34866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 name="直接箭头连接符 30">
            <a:extLst>
              <a:ext uri="{FF2B5EF4-FFF2-40B4-BE49-F238E27FC236}">
                <a16:creationId xmlns:a16="http://schemas.microsoft.com/office/drawing/2014/main" id="{2218BD89-DDFF-07C0-B22A-571DD2C65A43}"/>
              </a:ext>
            </a:extLst>
          </p:cNvPr>
          <p:cNvCxnSpPr>
            <a:cxnSpLocks/>
          </p:cNvCxnSpPr>
          <p:nvPr/>
        </p:nvCxnSpPr>
        <p:spPr>
          <a:xfrm flipV="1">
            <a:off x="5792982" y="2535236"/>
            <a:ext cx="0" cy="34866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 name="直接箭头连接符 36">
            <a:extLst>
              <a:ext uri="{FF2B5EF4-FFF2-40B4-BE49-F238E27FC236}">
                <a16:creationId xmlns:a16="http://schemas.microsoft.com/office/drawing/2014/main" id="{374EBE3D-9F9F-DDC4-A92D-C2895E1AB722}"/>
              </a:ext>
            </a:extLst>
          </p:cNvPr>
          <p:cNvCxnSpPr>
            <a:cxnSpLocks/>
          </p:cNvCxnSpPr>
          <p:nvPr/>
        </p:nvCxnSpPr>
        <p:spPr>
          <a:xfrm>
            <a:off x="1814257" y="2367036"/>
            <a:ext cx="231715"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8" name="直接箭头连接符 37">
            <a:extLst>
              <a:ext uri="{FF2B5EF4-FFF2-40B4-BE49-F238E27FC236}">
                <a16:creationId xmlns:a16="http://schemas.microsoft.com/office/drawing/2014/main" id="{FD392676-131E-DF0A-C143-DB7041CBAAB3}"/>
              </a:ext>
            </a:extLst>
          </p:cNvPr>
          <p:cNvCxnSpPr>
            <a:cxnSpLocks/>
            <a:stCxn id="13" idx="2"/>
            <a:endCxn id="5" idx="0"/>
          </p:cNvCxnSpPr>
          <p:nvPr/>
        </p:nvCxnSpPr>
        <p:spPr>
          <a:xfrm>
            <a:off x="2623877" y="2509839"/>
            <a:ext cx="1217" cy="379781"/>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1" name="文本框 40">
            <a:extLst>
              <a:ext uri="{FF2B5EF4-FFF2-40B4-BE49-F238E27FC236}">
                <a16:creationId xmlns:a16="http://schemas.microsoft.com/office/drawing/2014/main" id="{76EEB1A7-CA6B-579E-F148-CCA9E68267B5}"/>
              </a:ext>
            </a:extLst>
          </p:cNvPr>
          <p:cNvSpPr txBox="1"/>
          <p:nvPr/>
        </p:nvSpPr>
        <p:spPr>
          <a:xfrm>
            <a:off x="471872" y="1493774"/>
            <a:ext cx="3445390"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000" b="1" dirty="0">
                <a:solidFill>
                  <a:srgbClr val="000000"/>
                </a:solidFill>
                <a:latin typeface="Arial" panose="020B0604020202020204" pitchFamily="34" charset="0"/>
                <a:cs typeface="Arial" panose="020B0604020202020204" pitchFamily="34" charset="0"/>
              </a:rPr>
              <a:t>Transmitter</a:t>
            </a:r>
            <a:r>
              <a:rPr lang="en-US" altLang="zh-CN" sz="2000" b="1" dirty="0">
                <a:solidFill>
                  <a:srgbClr val="CEAE46"/>
                </a:solidFill>
                <a:latin typeface="Arial" panose="020B0604020202020204" pitchFamily="34" charset="0"/>
                <a:cs typeface="Arial" panose="020B0604020202020204" pitchFamily="34" charset="0"/>
              </a:rPr>
              <a:t> </a:t>
            </a:r>
          </a:p>
        </p:txBody>
      </p:sp>
      <p:sp>
        <p:nvSpPr>
          <p:cNvPr id="42" name="文本框 41">
            <a:extLst>
              <a:ext uri="{FF2B5EF4-FFF2-40B4-BE49-F238E27FC236}">
                <a16:creationId xmlns:a16="http://schemas.microsoft.com/office/drawing/2014/main" id="{320F674E-8AC0-F0F0-FC68-5C1E7D85EBBC}"/>
              </a:ext>
            </a:extLst>
          </p:cNvPr>
          <p:cNvSpPr txBox="1"/>
          <p:nvPr/>
        </p:nvSpPr>
        <p:spPr>
          <a:xfrm>
            <a:off x="5225106" y="1501739"/>
            <a:ext cx="3445390"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000" b="1" dirty="0">
                <a:solidFill>
                  <a:srgbClr val="000000"/>
                </a:solidFill>
                <a:latin typeface="Arial" panose="020B0604020202020204" pitchFamily="34" charset="0"/>
                <a:cs typeface="Arial" panose="020B0604020202020204" pitchFamily="34" charset="0"/>
              </a:rPr>
              <a:t>Receiver</a:t>
            </a:r>
          </a:p>
        </p:txBody>
      </p:sp>
      <p:sp>
        <p:nvSpPr>
          <p:cNvPr id="44" name="箭头: 右 43">
            <a:extLst>
              <a:ext uri="{FF2B5EF4-FFF2-40B4-BE49-F238E27FC236}">
                <a16:creationId xmlns:a16="http://schemas.microsoft.com/office/drawing/2014/main" id="{93FC61E7-6D5C-BA58-C479-2C9D2E55AABF}"/>
              </a:ext>
            </a:extLst>
          </p:cNvPr>
          <p:cNvSpPr/>
          <p:nvPr/>
        </p:nvSpPr>
        <p:spPr>
          <a:xfrm>
            <a:off x="4275115" y="2842310"/>
            <a:ext cx="592554" cy="402319"/>
          </a:xfrm>
          <a:prstGeom prst="rightArrow">
            <a:avLst/>
          </a:prstGeom>
          <a:solidFill>
            <a:schemeClr val="accent6">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Source Sans 3 Medium"/>
              <a:ea typeface="Source Sans 3 Medium"/>
              <a:cs typeface="Source Sans 3 Medium"/>
              <a:sym typeface="Source Sans 3 Medium"/>
            </a:endParaRPr>
          </a:p>
        </p:txBody>
      </p:sp>
      <p:sp>
        <p:nvSpPr>
          <p:cNvPr id="3" name="文本框 2">
            <a:extLst>
              <a:ext uri="{FF2B5EF4-FFF2-40B4-BE49-F238E27FC236}">
                <a16:creationId xmlns:a16="http://schemas.microsoft.com/office/drawing/2014/main" id="{868C6AE8-090F-5584-C5FF-410B6D69E736}"/>
              </a:ext>
            </a:extLst>
          </p:cNvPr>
          <p:cNvSpPr txBox="1"/>
          <p:nvPr/>
        </p:nvSpPr>
        <p:spPr>
          <a:xfrm>
            <a:off x="3330609" y="2311652"/>
            <a:ext cx="952251"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1600" b="1" dirty="0">
                <a:solidFill>
                  <a:schemeClr val="accent6">
                    <a:lumMod val="75000"/>
                  </a:schemeClr>
                </a:solidFill>
                <a:latin typeface="Arial" panose="020B0604020202020204" pitchFamily="34" charset="0"/>
                <a:cs typeface="Arial" panose="020B0604020202020204" pitchFamily="34" charset="0"/>
              </a:rPr>
              <a:t>Offline</a:t>
            </a:r>
          </a:p>
        </p:txBody>
      </p:sp>
    </p:spTree>
    <p:extLst>
      <p:ext uri="{BB962C8B-B14F-4D97-AF65-F5344CB8AC3E}">
        <p14:creationId xmlns:p14="http://schemas.microsoft.com/office/powerpoint/2010/main" val="183859600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7F209-6DC3-5C00-1A16-E366E8E47140}"/>
            </a:ext>
          </a:extLst>
        </p:cNvPr>
        <p:cNvGrpSpPr/>
        <p:nvPr/>
      </p:nvGrpSpPr>
      <p:grpSpPr>
        <a:xfrm>
          <a:off x="0" y="0"/>
          <a:ext cx="0" cy="0"/>
          <a:chOff x="0" y="0"/>
          <a:chExt cx="0" cy="0"/>
        </a:xfrm>
      </p:grpSpPr>
      <p:pic>
        <p:nvPicPr>
          <p:cNvPr id="8" name="UCSD-BrandRefresh-PPTBackgrounds-v4_Blues-NotchTopBottom.png">
            <a:extLst>
              <a:ext uri="{FF2B5EF4-FFF2-40B4-BE49-F238E27FC236}">
                <a16:creationId xmlns:a16="http://schemas.microsoft.com/office/drawing/2014/main" id="{464DFE18-668C-669E-1539-E40732795079}"/>
              </a:ext>
              <a:ext uri="{C183D7F6-B498-43B3-948B-1728B52AA6E4}">
                <adec:decorative xmlns:adec="http://schemas.microsoft.com/office/drawing/2017/decorative" val="1"/>
              </a:ext>
            </a:extLst>
          </p:cNvPr>
          <p:cNvPicPr>
            <a:picLocks noChangeAspect="1"/>
          </p:cNvPicPr>
          <p:nvPr/>
        </p:nvPicPr>
        <p:blipFill rotWithShape="1">
          <a:blip r:embed="rId3"/>
          <a:srcRect b="85199"/>
          <a:stretch/>
        </p:blipFill>
        <p:spPr>
          <a:xfrm>
            <a:off x="0" y="1"/>
            <a:ext cx="9148763" cy="762000"/>
          </a:xfrm>
          <a:prstGeom prst="rect">
            <a:avLst/>
          </a:prstGeom>
          <a:ln w="12700">
            <a:miter lim="400000"/>
          </a:ln>
        </p:spPr>
      </p:pic>
      <p:pic>
        <p:nvPicPr>
          <p:cNvPr id="10" name="UCSanDiegoLogo-White.png">
            <a:extLst>
              <a:ext uri="{FF2B5EF4-FFF2-40B4-BE49-F238E27FC236}">
                <a16:creationId xmlns:a16="http://schemas.microsoft.com/office/drawing/2014/main" id="{ECAF72D6-4B92-27BD-8036-944A2E47BDDC}"/>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7538831" y="240172"/>
            <a:ext cx="1377806" cy="258338"/>
          </a:xfrm>
          <a:prstGeom prst="rect">
            <a:avLst/>
          </a:prstGeom>
          <a:ln w="12700">
            <a:miter lim="400000"/>
          </a:ln>
        </p:spPr>
      </p:pic>
      <p:sp>
        <p:nvSpPr>
          <p:cNvPr id="4" name="Title 3">
            <a:extLst>
              <a:ext uri="{FF2B5EF4-FFF2-40B4-BE49-F238E27FC236}">
                <a16:creationId xmlns:a16="http://schemas.microsoft.com/office/drawing/2014/main" id="{3A102526-9A23-D5B0-52C4-841E656B388E}"/>
              </a:ext>
            </a:extLst>
          </p:cNvPr>
          <p:cNvSpPr>
            <a:spLocks noGrp="1"/>
          </p:cNvSpPr>
          <p:nvPr>
            <p:ph type="title"/>
          </p:nvPr>
        </p:nvSpPr>
        <p:spPr>
          <a:xfrm>
            <a:off x="457200" y="404813"/>
            <a:ext cx="7316804" cy="653653"/>
          </a:xfrm>
        </p:spPr>
        <p:txBody>
          <a:bodyPr>
            <a:normAutofit/>
          </a:bodyPr>
          <a:lstStyle/>
          <a:p>
            <a:r>
              <a:rPr lang="en-US" altLang="zh-CN" sz="2800" dirty="0"/>
              <a:t>KDC Transmitter</a:t>
            </a:r>
            <a:endParaRPr lang="en-US" sz="2800" dirty="0"/>
          </a:p>
        </p:txBody>
      </p:sp>
      <p:pic>
        <p:nvPicPr>
          <p:cNvPr id="3" name="图片 2" descr="图示&#10;&#10;AI 生成的内容可能不正确。">
            <a:extLst>
              <a:ext uri="{FF2B5EF4-FFF2-40B4-BE49-F238E27FC236}">
                <a16:creationId xmlns:a16="http://schemas.microsoft.com/office/drawing/2014/main" id="{95BB9267-2478-864D-E3C4-0F6AD7389AE6}"/>
              </a:ext>
            </a:extLst>
          </p:cNvPr>
          <p:cNvPicPr>
            <a:picLocks noChangeAspect="1"/>
          </p:cNvPicPr>
          <p:nvPr/>
        </p:nvPicPr>
        <p:blipFill>
          <a:blip r:embed="rId5"/>
          <a:stretch>
            <a:fillRect/>
          </a:stretch>
        </p:blipFill>
        <p:spPr>
          <a:xfrm>
            <a:off x="418289" y="1547223"/>
            <a:ext cx="5358267" cy="2447604"/>
          </a:xfrm>
          <a:prstGeom prst="rect">
            <a:avLst/>
          </a:prstGeom>
        </p:spPr>
      </p:pic>
      <p:sp>
        <p:nvSpPr>
          <p:cNvPr id="6" name="文本框 5">
            <a:extLst>
              <a:ext uri="{FF2B5EF4-FFF2-40B4-BE49-F238E27FC236}">
                <a16:creationId xmlns:a16="http://schemas.microsoft.com/office/drawing/2014/main" id="{5A6D383C-1DA5-8B8C-5BC3-035435D68353}"/>
              </a:ext>
            </a:extLst>
          </p:cNvPr>
          <p:cNvSpPr txBox="1"/>
          <p:nvPr/>
        </p:nvSpPr>
        <p:spPr>
          <a:xfrm>
            <a:off x="418289" y="1155501"/>
            <a:ext cx="4574540"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defTabSz="825500"/>
            <a:r>
              <a:rPr lang="en-US" altLang="zh-CN" sz="1400" b="1" dirty="0">
                <a:latin typeface="Arial" panose="020B0604020202020204" pitchFamily="34" charset="0"/>
                <a:cs typeface="Arial" panose="020B0604020202020204" pitchFamily="34" charset="0"/>
              </a:rPr>
              <a:t>Aligning modalities to a unified </a:t>
            </a:r>
            <a:r>
              <a:rPr lang="en-US" altLang="zh-CN" sz="1400" b="1" dirty="0">
                <a:solidFill>
                  <a:srgbClr val="C00000"/>
                </a:solidFill>
                <a:latin typeface="Arial" panose="020B0604020202020204" pitchFamily="34" charset="0"/>
                <a:cs typeface="Arial" panose="020B0604020202020204" pitchFamily="34" charset="0"/>
              </a:rPr>
              <a:t>semantic space.</a:t>
            </a:r>
          </a:p>
        </p:txBody>
      </p:sp>
      <p:pic>
        <p:nvPicPr>
          <p:cNvPr id="2" name="图片 1" descr="公路上有许多车&#10;&#10;AI 生成的内容可能不正确。">
            <a:extLst>
              <a:ext uri="{FF2B5EF4-FFF2-40B4-BE49-F238E27FC236}">
                <a16:creationId xmlns:a16="http://schemas.microsoft.com/office/drawing/2014/main" id="{078EF470-9015-AB67-862A-01C5F5121B27}"/>
              </a:ext>
            </a:extLst>
          </p:cNvPr>
          <p:cNvPicPr>
            <a:picLocks noChangeAspect="1"/>
          </p:cNvPicPr>
          <p:nvPr/>
        </p:nvPicPr>
        <p:blipFill>
          <a:blip r:embed="rId6"/>
          <a:srcRect b="49889"/>
          <a:stretch>
            <a:fillRect/>
          </a:stretch>
        </p:blipFill>
        <p:spPr>
          <a:xfrm>
            <a:off x="7387351" y="1680620"/>
            <a:ext cx="1465121" cy="928672"/>
          </a:xfrm>
          <a:prstGeom prst="rect">
            <a:avLst/>
          </a:prstGeom>
        </p:spPr>
      </p:pic>
      <p:sp>
        <p:nvSpPr>
          <p:cNvPr id="5" name="矩形: 圆角 4">
            <a:extLst>
              <a:ext uri="{FF2B5EF4-FFF2-40B4-BE49-F238E27FC236}">
                <a16:creationId xmlns:a16="http://schemas.microsoft.com/office/drawing/2014/main" id="{5A48FE1C-BA81-079D-0445-E9A1E8972CB0}"/>
              </a:ext>
            </a:extLst>
          </p:cNvPr>
          <p:cNvSpPr/>
          <p:nvPr/>
        </p:nvSpPr>
        <p:spPr>
          <a:xfrm>
            <a:off x="2295313" y="4078772"/>
            <a:ext cx="6806777" cy="828596"/>
          </a:xfrm>
          <a:prstGeom prst="round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algn="l" defTabSz="825500"/>
            <a:r>
              <a:rPr lang="en-US" altLang="zh-CN" sz="1400" b="1" dirty="0"/>
              <a:t>Key Advantage: Zero-Shot Task Adaptation</a:t>
            </a:r>
          </a:p>
          <a:p>
            <a:pPr algn="l" defTabSz="825500"/>
            <a:r>
              <a:rPr lang="en-US" altLang="zh-CN" sz="1400" dirty="0"/>
              <a:t>Change the text prompt, and the compression strategy changes instantly without retraining the neural network.</a:t>
            </a:r>
          </a:p>
        </p:txBody>
      </p:sp>
      <p:sp>
        <p:nvSpPr>
          <p:cNvPr id="13" name="文本框 12">
            <a:extLst>
              <a:ext uri="{FF2B5EF4-FFF2-40B4-BE49-F238E27FC236}">
                <a16:creationId xmlns:a16="http://schemas.microsoft.com/office/drawing/2014/main" id="{D11FFD14-A3BB-B105-D67C-5811940F0963}"/>
              </a:ext>
            </a:extLst>
          </p:cNvPr>
          <p:cNvSpPr txBox="1"/>
          <p:nvPr/>
        </p:nvSpPr>
        <p:spPr>
          <a:xfrm>
            <a:off x="4992829" y="1149930"/>
            <a:ext cx="4627032" cy="4154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1050" b="1" dirty="0">
                <a:latin typeface="Arial" panose="020B0604020202020204" pitchFamily="34" charset="0"/>
                <a:cs typeface="Arial" panose="020B0604020202020204" pitchFamily="34" charset="0"/>
              </a:rPr>
              <a:t>Red areas indicate high semantic value (αᵢ) </a:t>
            </a:r>
          </a:p>
          <a:p>
            <a:r>
              <a:rPr lang="en-US" altLang="zh-CN" sz="1050" b="1" dirty="0">
                <a:latin typeface="Arial" panose="020B0604020202020204" pitchFamily="34" charset="0"/>
                <a:cs typeface="Arial" panose="020B0604020202020204" pitchFamily="34" charset="0"/>
              </a:rPr>
              <a:t>automatically selected based on the prompt.</a:t>
            </a:r>
            <a:endParaRPr lang="zh-CN" altLang="en-US" sz="1050" b="1" dirty="0">
              <a:latin typeface="Arial" panose="020B0604020202020204" pitchFamily="34" charset="0"/>
              <a:cs typeface="Arial" panose="020B0604020202020204" pitchFamily="34" charset="0"/>
            </a:endParaRPr>
          </a:p>
        </p:txBody>
      </p:sp>
      <p:pic>
        <p:nvPicPr>
          <p:cNvPr id="7" name="图片 6" descr="图片包含 应用程序&#10;&#10;AI 生成的内容可能不正确。">
            <a:extLst>
              <a:ext uri="{FF2B5EF4-FFF2-40B4-BE49-F238E27FC236}">
                <a16:creationId xmlns:a16="http://schemas.microsoft.com/office/drawing/2014/main" id="{19D50F72-33D7-D06B-27DC-1670D190F440}"/>
              </a:ext>
            </a:extLst>
          </p:cNvPr>
          <p:cNvPicPr>
            <a:picLocks noChangeAspect="1"/>
          </p:cNvPicPr>
          <p:nvPr/>
        </p:nvPicPr>
        <p:blipFill>
          <a:blip r:embed="rId7"/>
          <a:stretch>
            <a:fillRect/>
          </a:stretch>
        </p:blipFill>
        <p:spPr>
          <a:xfrm>
            <a:off x="5821035" y="2911016"/>
            <a:ext cx="3040482" cy="866032"/>
          </a:xfrm>
          <a:prstGeom prst="rect">
            <a:avLst/>
          </a:prstGeom>
        </p:spPr>
      </p:pic>
      <p:pic>
        <p:nvPicPr>
          <p:cNvPr id="9" name="图片 8" descr="公路上有许多车&#10;&#10;AI 生成的内容可能不正确。">
            <a:extLst>
              <a:ext uri="{FF2B5EF4-FFF2-40B4-BE49-F238E27FC236}">
                <a16:creationId xmlns:a16="http://schemas.microsoft.com/office/drawing/2014/main" id="{FA3807D0-AD09-0BC3-6185-F28E6C224DA8}"/>
              </a:ext>
            </a:extLst>
          </p:cNvPr>
          <p:cNvPicPr>
            <a:picLocks noChangeAspect="1"/>
          </p:cNvPicPr>
          <p:nvPr/>
        </p:nvPicPr>
        <p:blipFill>
          <a:blip r:embed="rId6"/>
          <a:srcRect t="49144"/>
          <a:stretch>
            <a:fillRect/>
          </a:stretch>
        </p:blipFill>
        <p:spPr>
          <a:xfrm>
            <a:off x="5876155" y="1649373"/>
            <a:ext cx="1465121" cy="942488"/>
          </a:xfrm>
          <a:prstGeom prst="rect">
            <a:avLst/>
          </a:prstGeom>
        </p:spPr>
      </p:pic>
    </p:spTree>
    <p:extLst>
      <p:ext uri="{BB962C8B-B14F-4D97-AF65-F5344CB8AC3E}">
        <p14:creationId xmlns:p14="http://schemas.microsoft.com/office/powerpoint/2010/main" val="388703846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3CA86-F481-8533-DC8A-D0C911AEBDD6}"/>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842B43DB-8AF5-F016-6A0E-22F537E29D19}"/>
              </a:ext>
            </a:extLst>
          </p:cNvPr>
          <p:cNvSpPr/>
          <p:nvPr/>
        </p:nvSpPr>
        <p:spPr>
          <a:xfrm>
            <a:off x="2199187" y="3236844"/>
            <a:ext cx="1015637" cy="522129"/>
          </a:xfrm>
          <a:prstGeom prst="roundRect">
            <a:avLst/>
          </a:prstGeom>
          <a:solidFill>
            <a:schemeClr val="tx1">
              <a:lumMod val="10000"/>
              <a:lumOff val="90000"/>
            </a:schemeClr>
          </a:solidFill>
          <a:ln w="254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r>
              <a:rPr lang="en-US" altLang="zh-CN" sz="1200" b="1" dirty="0">
                <a:solidFill>
                  <a:srgbClr val="000000"/>
                </a:solidFill>
                <a:latin typeface="Arial" panose="020B0604020202020204" pitchFamily="34" charset="0"/>
                <a:ea typeface="Source Sans 3 Medium"/>
                <a:cs typeface="Arial" panose="020B0604020202020204" pitchFamily="34" charset="0"/>
                <a:sym typeface="Source Sans 3 Medium"/>
              </a:rPr>
              <a:t>Restoration Model</a:t>
            </a:r>
            <a:endParaRPr kumimoji="0" lang="zh-CN" altLang="en-US" sz="12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endParaRPr>
          </a:p>
        </p:txBody>
      </p:sp>
      <p:sp>
        <p:nvSpPr>
          <p:cNvPr id="4" name="矩形: 圆角 3">
            <a:extLst>
              <a:ext uri="{FF2B5EF4-FFF2-40B4-BE49-F238E27FC236}">
                <a16:creationId xmlns:a16="http://schemas.microsoft.com/office/drawing/2014/main" id="{2068399C-73F8-8348-F6C9-D400DB4F5491}"/>
              </a:ext>
            </a:extLst>
          </p:cNvPr>
          <p:cNvSpPr/>
          <p:nvPr/>
        </p:nvSpPr>
        <p:spPr>
          <a:xfrm>
            <a:off x="446859" y="3236846"/>
            <a:ext cx="1288869" cy="522129"/>
          </a:xfrm>
          <a:prstGeom prst="roundRect">
            <a:avLst/>
          </a:prstGeom>
          <a:solidFill>
            <a:schemeClr val="accent3">
              <a:lumMod val="40000"/>
              <a:lumOff val="60000"/>
            </a:schemeClr>
          </a:solidFill>
          <a:ln w="254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r>
              <a:rPr lang="en-US" altLang="zh-CN" sz="1200" b="1" dirty="0">
                <a:solidFill>
                  <a:srgbClr val="000000"/>
                </a:solidFill>
                <a:latin typeface="Arial" panose="020B0604020202020204" pitchFamily="34" charset="0"/>
                <a:ea typeface="Source Sans 3 Medium"/>
                <a:cs typeface="Arial" panose="020B0604020202020204" pitchFamily="34" charset="0"/>
                <a:sym typeface="Source Sans 3 Medium"/>
              </a:rPr>
              <a:t>Received Data [</a:t>
            </a:r>
            <a:r>
              <a:rPr lang="en-US" altLang="zh-CN" sz="1200" b="1" dirty="0">
                <a:solidFill>
                  <a:srgbClr val="C00000"/>
                </a:solidFill>
                <a:latin typeface="Arial" panose="020B0604020202020204" pitchFamily="34" charset="0"/>
                <a:ea typeface="Source Sans 3 Medium"/>
                <a:cs typeface="Arial" panose="020B0604020202020204" pitchFamily="34" charset="0"/>
                <a:sym typeface="Source Sans 3 Medium"/>
              </a:rPr>
              <a:t>Partially Lost</a:t>
            </a:r>
            <a:r>
              <a:rPr lang="en-US" altLang="zh-CN" sz="1200" b="1" dirty="0">
                <a:solidFill>
                  <a:srgbClr val="000000"/>
                </a:solidFill>
                <a:latin typeface="Arial" panose="020B0604020202020204" pitchFamily="34" charset="0"/>
                <a:ea typeface="Source Sans 3 Medium"/>
                <a:cs typeface="Arial" panose="020B0604020202020204" pitchFamily="34" charset="0"/>
                <a:sym typeface="Source Sans 3 Medium"/>
              </a:rPr>
              <a:t>]</a:t>
            </a:r>
            <a:endParaRPr lang="zh-CN" altLang="en-US" sz="1200" b="1" dirty="0">
              <a:solidFill>
                <a:srgbClr val="000000"/>
              </a:solidFill>
              <a:latin typeface="Arial" panose="020B0604020202020204" pitchFamily="34" charset="0"/>
              <a:ea typeface="Source Sans 3 Medium"/>
              <a:cs typeface="Arial" panose="020B0604020202020204" pitchFamily="34" charset="0"/>
              <a:sym typeface="Source Sans 3 Medium"/>
            </a:endParaRPr>
          </a:p>
        </p:txBody>
      </p:sp>
      <p:sp>
        <p:nvSpPr>
          <p:cNvPr id="5" name="矩形: 圆角 4">
            <a:extLst>
              <a:ext uri="{FF2B5EF4-FFF2-40B4-BE49-F238E27FC236}">
                <a16:creationId xmlns:a16="http://schemas.microsoft.com/office/drawing/2014/main" id="{01B8875F-058C-B148-17A5-5A305107CE74}"/>
              </a:ext>
            </a:extLst>
          </p:cNvPr>
          <p:cNvSpPr/>
          <p:nvPr/>
        </p:nvSpPr>
        <p:spPr>
          <a:xfrm>
            <a:off x="2199187" y="4137790"/>
            <a:ext cx="1015637" cy="488077"/>
          </a:xfrm>
          <a:prstGeom prst="roundRect">
            <a:avLst/>
          </a:prstGeom>
          <a:solidFill>
            <a:schemeClr val="accent3">
              <a:lumMod val="40000"/>
              <a:lumOff val="60000"/>
            </a:schemeClr>
          </a:solidFill>
          <a:ln w="254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1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rPr>
              <a:t>Knowledge Base</a:t>
            </a:r>
            <a:endParaRPr kumimoji="0" lang="zh-CN" altLang="en-US" sz="11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sp>
        <p:nvSpPr>
          <p:cNvPr id="6" name="矩形: 圆角 5">
            <a:extLst>
              <a:ext uri="{FF2B5EF4-FFF2-40B4-BE49-F238E27FC236}">
                <a16:creationId xmlns:a16="http://schemas.microsoft.com/office/drawing/2014/main" id="{36E291C7-D4AA-5616-C7E1-F3C22ECA2432}"/>
              </a:ext>
            </a:extLst>
          </p:cNvPr>
          <p:cNvSpPr/>
          <p:nvPr/>
        </p:nvSpPr>
        <p:spPr>
          <a:xfrm>
            <a:off x="3678283" y="3236844"/>
            <a:ext cx="1015637" cy="522129"/>
          </a:xfrm>
          <a:prstGeom prst="roundRect">
            <a:avLst/>
          </a:prstGeom>
          <a:solidFill>
            <a:schemeClr val="accent3">
              <a:lumMod val="40000"/>
              <a:lumOff val="60000"/>
            </a:schemeClr>
          </a:solidFill>
          <a:ln w="254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altLang="zh-CN" sz="1200" b="1" dirty="0">
                <a:solidFill>
                  <a:srgbClr val="000000"/>
                </a:solidFill>
                <a:latin typeface="Arial" panose="020B0604020202020204" pitchFamily="34" charset="0"/>
                <a:ea typeface="Source Sans 3 Medium"/>
                <a:cs typeface="Arial" panose="020B0604020202020204" pitchFamily="34" charset="0"/>
                <a:sym typeface="Source Sans 3 Medium"/>
              </a:rPr>
              <a:t>Restored Data</a:t>
            </a:r>
            <a:endParaRPr kumimoji="0" lang="zh-CN" altLang="en-US"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cxnSp>
        <p:nvCxnSpPr>
          <p:cNvPr id="8" name="直接箭头连接符 7">
            <a:extLst>
              <a:ext uri="{FF2B5EF4-FFF2-40B4-BE49-F238E27FC236}">
                <a16:creationId xmlns:a16="http://schemas.microsoft.com/office/drawing/2014/main" id="{555BA70C-586A-B45C-2508-93F346A3609B}"/>
              </a:ext>
            </a:extLst>
          </p:cNvPr>
          <p:cNvCxnSpPr>
            <a:cxnSpLocks/>
            <a:stCxn id="4" idx="3"/>
            <a:endCxn id="2" idx="1"/>
          </p:cNvCxnSpPr>
          <p:nvPr/>
        </p:nvCxnSpPr>
        <p:spPr>
          <a:xfrm flipV="1">
            <a:off x="1735728" y="3497909"/>
            <a:ext cx="463459" cy="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 name="直接箭头连接符 9">
            <a:extLst>
              <a:ext uri="{FF2B5EF4-FFF2-40B4-BE49-F238E27FC236}">
                <a16:creationId xmlns:a16="http://schemas.microsoft.com/office/drawing/2014/main" id="{5CF4E905-B3D0-BA1D-F13A-2DC797ED79EA}"/>
              </a:ext>
            </a:extLst>
          </p:cNvPr>
          <p:cNvCxnSpPr>
            <a:cxnSpLocks/>
            <a:stCxn id="2" idx="3"/>
            <a:endCxn id="6" idx="1"/>
          </p:cNvCxnSpPr>
          <p:nvPr/>
        </p:nvCxnSpPr>
        <p:spPr>
          <a:xfrm>
            <a:off x="3214824" y="3497909"/>
            <a:ext cx="463459"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5" name="直接箭头连接符 14">
            <a:extLst>
              <a:ext uri="{FF2B5EF4-FFF2-40B4-BE49-F238E27FC236}">
                <a16:creationId xmlns:a16="http://schemas.microsoft.com/office/drawing/2014/main" id="{F6BC695C-4816-13E9-9B74-B0AA0B154ECE}"/>
              </a:ext>
            </a:extLst>
          </p:cNvPr>
          <p:cNvCxnSpPr>
            <a:cxnSpLocks/>
            <a:stCxn id="5" idx="0"/>
            <a:endCxn id="2" idx="2"/>
          </p:cNvCxnSpPr>
          <p:nvPr/>
        </p:nvCxnSpPr>
        <p:spPr>
          <a:xfrm flipV="1">
            <a:off x="2707006" y="3758973"/>
            <a:ext cx="0" cy="37881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0" name="连接符: 肘形 19">
            <a:extLst>
              <a:ext uri="{FF2B5EF4-FFF2-40B4-BE49-F238E27FC236}">
                <a16:creationId xmlns:a16="http://schemas.microsoft.com/office/drawing/2014/main" id="{96A988D8-BC34-7DDF-6EA0-FBD9971AA714}"/>
              </a:ext>
            </a:extLst>
          </p:cNvPr>
          <p:cNvCxnSpPr>
            <a:stCxn id="6" idx="2"/>
            <a:endCxn id="5" idx="3"/>
          </p:cNvCxnSpPr>
          <p:nvPr/>
        </p:nvCxnSpPr>
        <p:spPr>
          <a:xfrm rot="5400000">
            <a:off x="3389035" y="3584762"/>
            <a:ext cx="622856" cy="971278"/>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 name="文本框 6">
            <a:extLst>
              <a:ext uri="{FF2B5EF4-FFF2-40B4-BE49-F238E27FC236}">
                <a16:creationId xmlns:a16="http://schemas.microsoft.com/office/drawing/2014/main" id="{AC760024-D353-7663-DCC4-5C2614FA0672}"/>
              </a:ext>
            </a:extLst>
          </p:cNvPr>
          <p:cNvSpPr txBox="1"/>
          <p:nvPr/>
        </p:nvSpPr>
        <p:spPr>
          <a:xfrm>
            <a:off x="5425440" y="1340643"/>
            <a:ext cx="3535680" cy="29546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sz="1400" b="1" dirty="0">
                <a:solidFill>
                  <a:srgbClr val="000000"/>
                </a:solidFill>
                <a:latin typeface="Arial" panose="020B0604020202020204" pitchFamily="34" charset="0"/>
                <a:cs typeface="Arial" panose="020B0604020202020204" pitchFamily="34" charset="0"/>
              </a:rPr>
              <a:t>Receive Tokens: </a:t>
            </a:r>
            <a:r>
              <a:rPr lang="en-US" altLang="zh-CN" sz="1400" dirty="0">
                <a:solidFill>
                  <a:srgbClr val="000000"/>
                </a:solidFill>
                <a:latin typeface="Arial" panose="020B0604020202020204" pitchFamily="34" charset="0"/>
                <a:cs typeface="Arial" panose="020B0604020202020204" pitchFamily="34" charset="0"/>
              </a:rPr>
              <a:t>Accept potentially corrupted/partial stream.</a:t>
            </a:r>
          </a:p>
          <a:p>
            <a:pPr algn="l"/>
            <a:endParaRPr lang="en-US" altLang="zh-CN" sz="1400" b="1" dirty="0">
              <a:solidFill>
                <a:srgbClr val="000000"/>
              </a:solidFill>
              <a:latin typeface="Arial" panose="020B0604020202020204" pitchFamily="34" charset="0"/>
              <a:cs typeface="Arial" panose="020B0604020202020204" pitchFamily="34" charset="0"/>
            </a:endParaRPr>
          </a:p>
          <a:p>
            <a:pPr algn="l"/>
            <a:r>
              <a:rPr lang="en-US" altLang="zh-CN" sz="1400" b="1" dirty="0">
                <a:solidFill>
                  <a:srgbClr val="000000"/>
                </a:solidFill>
                <a:latin typeface="Arial" panose="020B0604020202020204" pitchFamily="34" charset="0"/>
                <a:cs typeface="Arial" panose="020B0604020202020204" pitchFamily="34" charset="0"/>
              </a:rPr>
              <a:t>Conditioned Generation: </a:t>
            </a:r>
            <a:r>
              <a:rPr lang="en-US" altLang="zh-CN" sz="1400" dirty="0">
                <a:solidFill>
                  <a:srgbClr val="000000"/>
                </a:solidFill>
                <a:latin typeface="Arial" panose="020B0604020202020204" pitchFamily="34" charset="0"/>
                <a:cs typeface="Arial" panose="020B0604020202020204" pitchFamily="34" charset="0"/>
              </a:rPr>
              <a:t>Use </a:t>
            </a:r>
            <a:r>
              <a:rPr lang="en-US" altLang="zh-CN" sz="1400" dirty="0" err="1">
                <a:solidFill>
                  <a:srgbClr val="000000"/>
                </a:solidFill>
                <a:latin typeface="Arial" panose="020B0604020202020204" pitchFamily="34" charset="0"/>
                <a:cs typeface="Arial" panose="020B0604020202020204" pitchFamily="34" charset="0"/>
              </a:rPr>
              <a:t>FiLM</a:t>
            </a:r>
            <a:r>
              <a:rPr lang="en-US" altLang="zh-CN" sz="1400" dirty="0">
                <a:solidFill>
                  <a:srgbClr val="000000"/>
                </a:solidFill>
                <a:latin typeface="Arial" panose="020B0604020202020204" pitchFamily="34" charset="0"/>
                <a:cs typeface="Arial" panose="020B0604020202020204" pitchFamily="34" charset="0"/>
              </a:rPr>
              <a:t> to condition the restoration network weights based on retrieved context.</a:t>
            </a:r>
          </a:p>
          <a:p>
            <a:pPr algn="l"/>
            <a:endParaRPr lang="en-US" altLang="zh-CN" sz="1400" b="1" dirty="0">
              <a:solidFill>
                <a:srgbClr val="000000"/>
              </a:solidFill>
              <a:latin typeface="Arial" panose="020B0604020202020204" pitchFamily="34" charset="0"/>
              <a:cs typeface="Arial" panose="020B0604020202020204" pitchFamily="34" charset="0"/>
            </a:endParaRPr>
          </a:p>
          <a:p>
            <a:pPr algn="l"/>
            <a:r>
              <a:rPr lang="en-US" altLang="zh-CN" sz="1400" b="1" dirty="0">
                <a:solidFill>
                  <a:srgbClr val="000000"/>
                </a:solidFill>
                <a:latin typeface="Arial" panose="020B0604020202020204" pitchFamily="34" charset="0"/>
                <a:cs typeface="Arial" panose="020B0604020202020204" pitchFamily="34" charset="0"/>
              </a:rPr>
              <a:t>Restoration: </a:t>
            </a:r>
            <a:r>
              <a:rPr lang="en-US" altLang="zh-CN" sz="1400" dirty="0">
                <a:solidFill>
                  <a:srgbClr val="000000"/>
                </a:solidFill>
                <a:latin typeface="Arial" panose="020B0604020202020204" pitchFamily="34" charset="0"/>
                <a:cs typeface="Arial" panose="020B0604020202020204" pitchFamily="34" charset="0"/>
              </a:rPr>
              <a:t>restore missing data in a controlled manner.</a:t>
            </a:r>
          </a:p>
          <a:p>
            <a:pPr algn="l"/>
            <a:endParaRPr lang="en-US" altLang="zh-CN" sz="1400" b="1" dirty="0">
              <a:solidFill>
                <a:srgbClr val="000000"/>
              </a:solidFill>
              <a:latin typeface="Arial" panose="020B0604020202020204" pitchFamily="34" charset="0"/>
              <a:cs typeface="Arial" panose="020B0604020202020204" pitchFamily="34" charset="0"/>
            </a:endParaRPr>
          </a:p>
          <a:p>
            <a:pPr algn="l"/>
            <a:r>
              <a:rPr lang="en-US" altLang="zh-CN" sz="1400" b="1" dirty="0">
                <a:solidFill>
                  <a:srgbClr val="000000"/>
                </a:solidFill>
                <a:latin typeface="Arial" panose="020B0604020202020204" pitchFamily="34" charset="0"/>
                <a:cs typeface="Arial" panose="020B0604020202020204" pitchFamily="34" charset="0"/>
              </a:rPr>
              <a:t>Accumulation:  </a:t>
            </a:r>
            <a:r>
              <a:rPr lang="en-US" altLang="zh-CN" sz="1400" dirty="0">
                <a:solidFill>
                  <a:srgbClr val="000000"/>
                </a:solidFill>
                <a:latin typeface="Arial" panose="020B0604020202020204" pitchFamily="34" charset="0"/>
                <a:cs typeface="Arial" panose="020B0604020202020204" pitchFamily="34" charset="0"/>
              </a:rPr>
              <a:t>Learnable receiver, Positive Feedback Loop</a:t>
            </a:r>
          </a:p>
          <a:p>
            <a:pPr algn="l"/>
            <a:endParaRPr lang="en-US" altLang="zh-CN" sz="1400" b="1" dirty="0">
              <a:solidFill>
                <a:srgbClr val="000000"/>
              </a:solidFill>
              <a:latin typeface="Arial" panose="020B0604020202020204" pitchFamily="34" charset="0"/>
              <a:cs typeface="Arial" panose="020B0604020202020204" pitchFamily="34" charset="0"/>
            </a:endParaRPr>
          </a:p>
        </p:txBody>
      </p:sp>
      <p:pic>
        <p:nvPicPr>
          <p:cNvPr id="11" name="图片 10" descr="图示, 示意图&#10;&#10;AI 生成的内容可能不正确。">
            <a:extLst>
              <a:ext uri="{FF2B5EF4-FFF2-40B4-BE49-F238E27FC236}">
                <a16:creationId xmlns:a16="http://schemas.microsoft.com/office/drawing/2014/main" id="{DD118751-A03C-9A28-B4CC-B57B1BE2F913}"/>
              </a:ext>
            </a:extLst>
          </p:cNvPr>
          <p:cNvPicPr>
            <a:picLocks noChangeAspect="1"/>
          </p:cNvPicPr>
          <p:nvPr/>
        </p:nvPicPr>
        <p:blipFill>
          <a:blip r:embed="rId3"/>
          <a:stretch>
            <a:fillRect/>
          </a:stretch>
        </p:blipFill>
        <p:spPr>
          <a:xfrm>
            <a:off x="540842" y="905238"/>
            <a:ext cx="4259758" cy="1942492"/>
          </a:xfrm>
          <a:prstGeom prst="rect">
            <a:avLst/>
          </a:prstGeom>
        </p:spPr>
      </p:pic>
      <p:cxnSp>
        <p:nvCxnSpPr>
          <p:cNvPr id="13" name="直线连接符 12">
            <a:extLst>
              <a:ext uri="{FF2B5EF4-FFF2-40B4-BE49-F238E27FC236}">
                <a16:creationId xmlns:a16="http://schemas.microsoft.com/office/drawing/2014/main" id="{B07C6340-60E1-5314-AA01-4AA5EDB4A3BF}"/>
              </a:ext>
            </a:extLst>
          </p:cNvPr>
          <p:cNvCxnSpPr/>
          <p:nvPr/>
        </p:nvCxnSpPr>
        <p:spPr>
          <a:xfrm>
            <a:off x="620486" y="2847730"/>
            <a:ext cx="1578701" cy="389114"/>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14" name="直线连接符 13">
            <a:extLst>
              <a:ext uri="{FF2B5EF4-FFF2-40B4-BE49-F238E27FC236}">
                <a16:creationId xmlns:a16="http://schemas.microsoft.com/office/drawing/2014/main" id="{10861CD2-EAE7-1BB2-BAE9-2036E83C8E13}"/>
              </a:ext>
            </a:extLst>
          </p:cNvPr>
          <p:cNvCxnSpPr>
            <a:cxnSpLocks/>
          </p:cNvCxnSpPr>
          <p:nvPr/>
        </p:nvCxnSpPr>
        <p:spPr>
          <a:xfrm flipH="1">
            <a:off x="3214824" y="2847730"/>
            <a:ext cx="1479096" cy="389114"/>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
        <p:nvSpPr>
          <p:cNvPr id="22" name="Title 3">
            <a:extLst>
              <a:ext uri="{FF2B5EF4-FFF2-40B4-BE49-F238E27FC236}">
                <a16:creationId xmlns:a16="http://schemas.microsoft.com/office/drawing/2014/main" id="{A26D918F-82F8-9C5E-83DA-7802C6F73894}"/>
              </a:ext>
            </a:extLst>
          </p:cNvPr>
          <p:cNvSpPr>
            <a:spLocks noGrp="1"/>
          </p:cNvSpPr>
          <p:nvPr>
            <p:ph type="title"/>
          </p:nvPr>
        </p:nvSpPr>
        <p:spPr>
          <a:xfrm>
            <a:off x="457200" y="404813"/>
            <a:ext cx="7316804" cy="653653"/>
          </a:xfrm>
        </p:spPr>
        <p:txBody>
          <a:bodyPr>
            <a:normAutofit/>
          </a:bodyPr>
          <a:lstStyle/>
          <a:p>
            <a:r>
              <a:rPr lang="en-US" altLang="zh-CN" sz="2800" dirty="0"/>
              <a:t>KDC Receiver</a:t>
            </a:r>
            <a:endParaRPr lang="en-US" sz="2800" dirty="0"/>
          </a:p>
        </p:txBody>
      </p:sp>
    </p:spTree>
    <p:extLst>
      <p:ext uri="{BB962C8B-B14F-4D97-AF65-F5344CB8AC3E}">
        <p14:creationId xmlns:p14="http://schemas.microsoft.com/office/powerpoint/2010/main" val="426853720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728BF898-FBA8-7F7C-BA8A-3E9B698E16BB}"/>
              </a:ext>
            </a:extLst>
          </p:cNvPr>
          <p:cNvSpPr>
            <a:spLocks noGrp="1"/>
          </p:cNvSpPr>
          <p:nvPr>
            <p:ph type="title"/>
          </p:nvPr>
        </p:nvSpPr>
        <p:spPr>
          <a:xfrm>
            <a:off x="180683" y="459846"/>
            <a:ext cx="7316804" cy="653653"/>
          </a:xfrm>
        </p:spPr>
        <p:txBody>
          <a:bodyPr>
            <a:normAutofit/>
          </a:bodyPr>
          <a:lstStyle/>
          <a:p>
            <a:r>
              <a:rPr lang="en-US" sz="2800" dirty="0"/>
              <a:t>Incremental Knowledge Accumulation</a:t>
            </a:r>
          </a:p>
        </p:txBody>
      </p:sp>
      <p:sp>
        <p:nvSpPr>
          <p:cNvPr id="10" name="矩形: 圆角 9">
            <a:extLst>
              <a:ext uri="{FF2B5EF4-FFF2-40B4-BE49-F238E27FC236}">
                <a16:creationId xmlns:a16="http://schemas.microsoft.com/office/drawing/2014/main" id="{2C83933D-939C-5860-420E-0E57D8ACA3AC}"/>
              </a:ext>
            </a:extLst>
          </p:cNvPr>
          <p:cNvSpPr/>
          <p:nvPr/>
        </p:nvSpPr>
        <p:spPr>
          <a:xfrm>
            <a:off x="328082" y="3502490"/>
            <a:ext cx="8487835" cy="1032907"/>
          </a:xfrm>
          <a:prstGeom prst="round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algn="l"/>
            <a:r>
              <a:rPr lang="en-US" altLang="zh-CN" sz="1800" b="1" dirty="0"/>
              <a:t>Positive Feedback Loop:</a:t>
            </a:r>
            <a:r>
              <a:rPr lang="en-US" altLang="zh-CN" sz="1800" dirty="0"/>
              <a:t> </a:t>
            </a:r>
            <a:r>
              <a:rPr lang="en-US" altLang="zh-CN" sz="1800" b="1" dirty="0">
                <a:solidFill>
                  <a:srgbClr val="C00000"/>
                </a:solidFill>
              </a:rPr>
              <a:t>The more it receives, the less it needs to receive. </a:t>
            </a:r>
          </a:p>
          <a:p>
            <a:pPr algn="l"/>
            <a:r>
              <a:rPr lang="en-US" altLang="zh-CN" sz="1800" dirty="0"/>
              <a:t>This enables </a:t>
            </a:r>
            <a:r>
              <a:rPr lang="zh-CN" altLang="en-US" sz="1800" dirty="0"/>
              <a:t>“</a:t>
            </a:r>
            <a:r>
              <a:rPr lang="en-US" altLang="zh-CN" sz="1800" dirty="0"/>
              <a:t>Early Exit</a:t>
            </a:r>
            <a:r>
              <a:rPr lang="zh-CN" altLang="en-US" sz="1800" dirty="0"/>
              <a:t>”</a:t>
            </a:r>
            <a:r>
              <a:rPr lang="en-US" altLang="zh-CN" sz="1800" dirty="0"/>
              <a:t> where the receiver can stop listening once confidence is high, saving latency.</a:t>
            </a:r>
            <a:endParaRPr lang="zh-CN" altLang="en-US" sz="1800" dirty="0"/>
          </a:p>
        </p:txBody>
      </p:sp>
      <p:pic>
        <p:nvPicPr>
          <p:cNvPr id="12" name="图片 11" descr="图示&#10;&#10;AI 生成的内容可能不正确。">
            <a:extLst>
              <a:ext uri="{FF2B5EF4-FFF2-40B4-BE49-F238E27FC236}">
                <a16:creationId xmlns:a16="http://schemas.microsoft.com/office/drawing/2014/main" id="{A3C49668-0D28-8D6A-3D59-FDD161AAA43D}"/>
              </a:ext>
            </a:extLst>
          </p:cNvPr>
          <p:cNvPicPr>
            <a:picLocks noChangeAspect="1"/>
          </p:cNvPicPr>
          <p:nvPr/>
        </p:nvPicPr>
        <p:blipFill>
          <a:blip r:embed="rId3"/>
          <a:stretch>
            <a:fillRect/>
          </a:stretch>
        </p:blipFill>
        <p:spPr>
          <a:xfrm>
            <a:off x="2724705" y="904782"/>
            <a:ext cx="3694589" cy="2428968"/>
          </a:xfrm>
          <a:prstGeom prst="rect">
            <a:avLst/>
          </a:prstGeom>
        </p:spPr>
      </p:pic>
    </p:spTree>
    <p:extLst>
      <p:ext uri="{BB962C8B-B14F-4D97-AF65-F5344CB8AC3E}">
        <p14:creationId xmlns:p14="http://schemas.microsoft.com/office/powerpoint/2010/main" val="44027758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EEC1302D-A332-6FF4-6CCB-D74BCEC05949}"/>
              </a:ext>
            </a:extLst>
          </p:cNvPr>
          <p:cNvSpPr>
            <a:spLocks noGrp="1"/>
          </p:cNvSpPr>
          <p:nvPr>
            <p:ph type="title"/>
          </p:nvPr>
        </p:nvSpPr>
        <p:spPr>
          <a:xfrm>
            <a:off x="266699" y="318453"/>
            <a:ext cx="7316804" cy="653653"/>
          </a:xfrm>
        </p:spPr>
        <p:txBody>
          <a:bodyPr>
            <a:normAutofit/>
          </a:bodyPr>
          <a:lstStyle/>
          <a:p>
            <a:r>
              <a:rPr lang="en-US" altLang="zh-CN" sz="2800" dirty="0"/>
              <a:t>Implementation: The Codec Wrapper</a:t>
            </a:r>
            <a:endParaRPr lang="en-US" sz="2800" dirty="0"/>
          </a:p>
        </p:txBody>
      </p:sp>
      <p:pic>
        <p:nvPicPr>
          <p:cNvPr id="9" name="Picture 4">
            <a:extLst>
              <a:ext uri="{FF2B5EF4-FFF2-40B4-BE49-F238E27FC236}">
                <a16:creationId xmlns:a16="http://schemas.microsoft.com/office/drawing/2014/main" id="{FC14A87F-D9C9-7A32-EB12-824AE519AC9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2167" t="56599"/>
          <a:stretch>
            <a:fillRect/>
          </a:stretch>
        </p:blipFill>
        <p:spPr bwMode="auto">
          <a:xfrm>
            <a:off x="1330391" y="2098994"/>
            <a:ext cx="1630680" cy="161638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96503244-408F-6A4F-B0D1-A9984E9C12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531" t="51105" r="69596" b="35403"/>
          <a:stretch>
            <a:fillRect/>
          </a:stretch>
        </p:blipFill>
        <p:spPr bwMode="auto">
          <a:xfrm>
            <a:off x="2961070" y="2132829"/>
            <a:ext cx="1534729" cy="1547647"/>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3CB5532C-E383-521A-A0B7-22670007D710}"/>
              </a:ext>
            </a:extLst>
          </p:cNvPr>
          <p:cNvSpPr txBox="1"/>
          <p:nvPr/>
        </p:nvSpPr>
        <p:spPr>
          <a:xfrm>
            <a:off x="95249" y="3806753"/>
            <a:ext cx="8953502"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lgn="l">
              <a:buFont typeface="Arial" panose="020B0604020202020204" pitchFamily="34" charset="0"/>
              <a:buChar char="•"/>
            </a:pPr>
            <a:r>
              <a:rPr lang="en-US" altLang="zh-CN" sz="1800" dirty="0">
                <a:solidFill>
                  <a:srgbClr val="000000"/>
                </a:solidFill>
                <a:latin typeface="Arial" panose="020B0604020202020204" pitchFamily="34" charset="0"/>
                <a:cs typeface="Arial" panose="020B0604020202020204" pitchFamily="34" charset="0"/>
              </a:rPr>
              <a:t>Reduce the entropy of background before the standard encoder. </a:t>
            </a:r>
          </a:p>
          <a:p>
            <a:pPr marL="285750" indent="-285750" algn="l">
              <a:buFont typeface="Arial" panose="020B0604020202020204" pitchFamily="34" charset="0"/>
              <a:buChar char="•"/>
            </a:pPr>
            <a:r>
              <a:rPr lang="en-US" altLang="zh-CN" sz="1800" dirty="0">
                <a:solidFill>
                  <a:srgbClr val="000000"/>
                </a:solidFill>
                <a:latin typeface="Arial" panose="020B0604020202020204" pitchFamily="34" charset="0"/>
                <a:cs typeface="Arial" panose="020B0604020202020204" pitchFamily="34" charset="0"/>
              </a:rPr>
              <a:t>Standard codec naturally allocates fewer bits to these zeroed-out areas.</a:t>
            </a:r>
          </a:p>
          <a:p>
            <a:pPr marL="285750" indent="-285750" algn="l">
              <a:buFont typeface="Arial" panose="020B0604020202020204" pitchFamily="34" charset="0"/>
              <a:buChar char="•"/>
            </a:pPr>
            <a:r>
              <a:rPr lang="en-US" altLang="zh-CN" sz="1800" dirty="0">
                <a:solidFill>
                  <a:srgbClr val="000000"/>
                </a:solidFill>
                <a:latin typeface="Arial" panose="020B0604020202020204" pitchFamily="34" charset="0"/>
                <a:cs typeface="Arial" panose="020B0604020202020204" pitchFamily="34" charset="0"/>
              </a:rPr>
              <a:t>Resulting in a valid, standard-compliant bitstream that is semantically optimized.</a:t>
            </a:r>
          </a:p>
        </p:txBody>
      </p:sp>
      <p:sp>
        <p:nvSpPr>
          <p:cNvPr id="12" name="文本框 11">
            <a:extLst>
              <a:ext uri="{FF2B5EF4-FFF2-40B4-BE49-F238E27FC236}">
                <a16:creationId xmlns:a16="http://schemas.microsoft.com/office/drawing/2014/main" id="{2EBE9BF1-392D-31D3-A7D9-9F981D5086A5}"/>
              </a:ext>
            </a:extLst>
          </p:cNvPr>
          <p:cNvSpPr txBox="1"/>
          <p:nvPr/>
        </p:nvSpPr>
        <p:spPr>
          <a:xfrm>
            <a:off x="154937" y="1005941"/>
            <a:ext cx="8989063"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sz="1600" b="1" dirty="0">
                <a:solidFill>
                  <a:srgbClr val="000000"/>
                </a:solidFill>
                <a:latin typeface="Arial" panose="020B0604020202020204" pitchFamily="34" charset="0"/>
                <a:cs typeface="Arial" panose="020B0604020202020204" pitchFamily="34" charset="0"/>
              </a:rPr>
              <a:t>Constraint: </a:t>
            </a:r>
            <a:r>
              <a:rPr lang="en-US" altLang="zh-CN" sz="1600" dirty="0">
                <a:solidFill>
                  <a:srgbClr val="000000"/>
                </a:solidFill>
                <a:latin typeface="Arial" panose="020B0604020202020204" pitchFamily="34" charset="0"/>
                <a:cs typeface="Arial" panose="020B0604020202020204" pitchFamily="34" charset="0"/>
              </a:rPr>
              <a:t>Must support legacy standards (JPEG, H.264) and hardware accelerators.</a:t>
            </a:r>
            <a:endParaRPr lang="zh-CN" altLang="en-US" sz="1600" dirty="0">
              <a:solidFill>
                <a:srgbClr val="000000"/>
              </a:solidFill>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2146088D-826D-08C1-90C4-955217E4D8B4}"/>
              </a:ext>
            </a:extLst>
          </p:cNvPr>
          <p:cNvSpPr txBox="1"/>
          <p:nvPr/>
        </p:nvSpPr>
        <p:spPr>
          <a:xfrm>
            <a:off x="3039651" y="1715410"/>
            <a:ext cx="6507119"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1600" dirty="0">
                <a:solidFill>
                  <a:srgbClr val="000000"/>
                </a:solidFill>
                <a:latin typeface="Arial" panose="020B0604020202020204" pitchFamily="34" charset="0"/>
                <a:cs typeface="Arial" panose="020B0604020202020204" pitchFamily="34" charset="0"/>
              </a:rPr>
              <a:t>Semantic Pre-Quantization</a:t>
            </a:r>
            <a:endParaRPr lang="zh-CN" altLang="en-US" sz="1600" dirty="0">
              <a:solidFill>
                <a:srgbClr val="000000"/>
              </a:solidFill>
              <a:latin typeface="Arial" panose="020B0604020202020204" pitchFamily="34" charset="0"/>
              <a:cs typeface="Arial" panose="020B0604020202020204" pitchFamily="34" charset="0"/>
            </a:endParaRPr>
          </a:p>
        </p:txBody>
      </p:sp>
      <p:sp>
        <p:nvSpPr>
          <p:cNvPr id="14" name="矩形: 圆角 13">
            <a:extLst>
              <a:ext uri="{FF2B5EF4-FFF2-40B4-BE49-F238E27FC236}">
                <a16:creationId xmlns:a16="http://schemas.microsoft.com/office/drawing/2014/main" id="{58E6FC55-2278-9B30-EB74-A7B132B794FE}"/>
              </a:ext>
            </a:extLst>
          </p:cNvPr>
          <p:cNvSpPr/>
          <p:nvPr/>
        </p:nvSpPr>
        <p:spPr>
          <a:xfrm>
            <a:off x="4952999" y="2098994"/>
            <a:ext cx="1534729" cy="658336"/>
          </a:xfrm>
          <a:prstGeom prst="roundRect">
            <a:avLst/>
          </a:prstGeom>
          <a:solidFill>
            <a:schemeClr val="tx1">
              <a:lumMod val="10000"/>
              <a:lumOff val="90000"/>
            </a:schemeClr>
          </a:solidFill>
          <a:ln w="254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r>
              <a:rPr lang="en-US" altLang="zh-CN" sz="1600" b="1" dirty="0">
                <a:solidFill>
                  <a:srgbClr val="000000"/>
                </a:solidFill>
                <a:latin typeface="Source Sans 3 Medium"/>
                <a:ea typeface="Source Sans 3 Medium"/>
                <a:cs typeface="Source Sans 3 Medium"/>
                <a:sym typeface="Source Sans 3 Medium"/>
              </a:rPr>
              <a:t>Fine Quantization</a:t>
            </a:r>
            <a:endParaRPr kumimoji="0" lang="zh-CN" altLang="en-US" sz="1600" b="1" i="0" u="none" strike="noStrike" cap="none" spc="0" normalizeH="0" baseline="0" dirty="0">
              <a:ln>
                <a:noFill/>
              </a:ln>
              <a:solidFill>
                <a:srgbClr val="000000"/>
              </a:solidFill>
              <a:effectLst/>
              <a:uFillTx/>
              <a:latin typeface="Source Sans 3 Medium"/>
              <a:ea typeface="Source Sans 3 Medium"/>
              <a:cs typeface="Source Sans 3 Medium"/>
              <a:sym typeface="Source Sans 3 Medium"/>
            </a:endParaRPr>
          </a:p>
        </p:txBody>
      </p:sp>
      <p:sp>
        <p:nvSpPr>
          <p:cNvPr id="15" name="矩形: 圆角 14">
            <a:extLst>
              <a:ext uri="{FF2B5EF4-FFF2-40B4-BE49-F238E27FC236}">
                <a16:creationId xmlns:a16="http://schemas.microsoft.com/office/drawing/2014/main" id="{D07C5C54-5321-5B1D-43C8-D615E211C9D3}"/>
              </a:ext>
            </a:extLst>
          </p:cNvPr>
          <p:cNvSpPr/>
          <p:nvPr/>
        </p:nvSpPr>
        <p:spPr>
          <a:xfrm>
            <a:off x="4952998" y="3019971"/>
            <a:ext cx="1534729" cy="590233"/>
          </a:xfrm>
          <a:prstGeom prst="roundRect">
            <a:avLst/>
          </a:prstGeom>
          <a:solidFill>
            <a:schemeClr val="tx1">
              <a:lumMod val="10000"/>
              <a:lumOff val="90000"/>
            </a:schemeClr>
          </a:solidFill>
          <a:ln w="254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400" b="1" i="0" u="none" strike="noStrike" cap="none" spc="0" normalizeH="0" baseline="0" dirty="0">
                <a:ln>
                  <a:noFill/>
                </a:ln>
                <a:solidFill>
                  <a:srgbClr val="000000"/>
                </a:solidFill>
                <a:effectLst/>
                <a:uFillTx/>
                <a:latin typeface="Source Sans 3 Medium"/>
                <a:ea typeface="Source Sans 3 Medium"/>
                <a:cs typeface="Source Sans 3 Medium"/>
                <a:sym typeface="Source Sans 3 Medium"/>
              </a:rPr>
              <a:t>Aggressive Quantization</a:t>
            </a:r>
            <a:endParaRPr kumimoji="0" lang="zh-CN" altLang="en-US" sz="1400" b="1" i="0" u="none" strike="noStrike" cap="none" spc="0" normalizeH="0" baseline="0" dirty="0">
              <a:ln>
                <a:noFill/>
              </a:ln>
              <a:solidFill>
                <a:srgbClr val="000000"/>
              </a:solidFill>
              <a:effectLst/>
              <a:uFillTx/>
              <a:latin typeface="Source Sans 3 Medium"/>
              <a:ea typeface="Source Sans 3 Medium"/>
              <a:cs typeface="Source Sans 3 Medium"/>
              <a:sym typeface="Source Sans 3 Medium"/>
            </a:endParaRPr>
          </a:p>
        </p:txBody>
      </p:sp>
      <p:cxnSp>
        <p:nvCxnSpPr>
          <p:cNvPr id="16" name="直接连接符 15">
            <a:extLst>
              <a:ext uri="{FF2B5EF4-FFF2-40B4-BE49-F238E27FC236}">
                <a16:creationId xmlns:a16="http://schemas.microsoft.com/office/drawing/2014/main" id="{AB563B47-2461-7273-D1F9-2EF649C77A58}"/>
              </a:ext>
            </a:extLst>
          </p:cNvPr>
          <p:cNvCxnSpPr>
            <a:cxnSpLocks/>
            <a:endCxn id="14" idx="1"/>
          </p:cNvCxnSpPr>
          <p:nvPr/>
        </p:nvCxnSpPr>
        <p:spPr>
          <a:xfrm flipV="1">
            <a:off x="3562350" y="2428162"/>
            <a:ext cx="1390649" cy="3867"/>
          </a:xfrm>
          <a:prstGeom prst="line">
            <a:avLst/>
          </a:prstGeom>
          <a:noFill/>
          <a:ln w="63500" cap="flat">
            <a:solidFill>
              <a:srgbClr val="000000"/>
            </a:solidFill>
            <a:prstDash val="solid"/>
            <a:miter lim="400000"/>
            <a:headEnd type="oval"/>
          </a:ln>
          <a:effectLst/>
          <a:sp3d/>
        </p:spPr>
        <p:style>
          <a:lnRef idx="0">
            <a:scrgbClr r="0" g="0" b="0"/>
          </a:lnRef>
          <a:fillRef idx="0">
            <a:scrgbClr r="0" g="0" b="0"/>
          </a:fillRef>
          <a:effectRef idx="0">
            <a:scrgbClr r="0" g="0" b="0"/>
          </a:effectRef>
          <a:fontRef idx="none"/>
        </p:style>
      </p:cxnSp>
      <p:cxnSp>
        <p:nvCxnSpPr>
          <p:cNvPr id="17" name="直接连接符 16">
            <a:extLst>
              <a:ext uri="{FF2B5EF4-FFF2-40B4-BE49-F238E27FC236}">
                <a16:creationId xmlns:a16="http://schemas.microsoft.com/office/drawing/2014/main" id="{EF7F4746-07CE-76D0-C31D-297DE42E9B6B}"/>
              </a:ext>
            </a:extLst>
          </p:cNvPr>
          <p:cNvCxnSpPr>
            <a:cxnSpLocks/>
          </p:cNvCxnSpPr>
          <p:nvPr/>
        </p:nvCxnSpPr>
        <p:spPr>
          <a:xfrm>
            <a:off x="4029074" y="3292170"/>
            <a:ext cx="923925" cy="0"/>
          </a:xfrm>
          <a:prstGeom prst="line">
            <a:avLst/>
          </a:prstGeom>
          <a:noFill/>
          <a:ln w="63500" cap="flat">
            <a:solidFill>
              <a:srgbClr val="000000"/>
            </a:solidFill>
            <a:prstDash val="solid"/>
            <a:miter lim="400000"/>
            <a:headEnd type="oval"/>
          </a:ln>
          <a:effectLst/>
          <a:sp3d/>
        </p:spPr>
        <p:style>
          <a:lnRef idx="0">
            <a:scrgbClr r="0" g="0" b="0"/>
          </a:lnRef>
          <a:fillRef idx="0">
            <a:scrgbClr r="0" g="0" b="0"/>
          </a:fillRef>
          <a:effectRef idx="0">
            <a:scrgbClr r="0" g="0" b="0"/>
          </a:effectRef>
          <a:fontRef idx="none"/>
        </p:style>
      </p:cxnSp>
      <p:sp>
        <p:nvSpPr>
          <p:cNvPr id="18" name="矩形: 圆角 17">
            <a:extLst>
              <a:ext uri="{FF2B5EF4-FFF2-40B4-BE49-F238E27FC236}">
                <a16:creationId xmlns:a16="http://schemas.microsoft.com/office/drawing/2014/main" id="{3B6ED7F7-B85F-9D81-3988-C2C2670F2DB4}"/>
              </a:ext>
            </a:extLst>
          </p:cNvPr>
          <p:cNvSpPr/>
          <p:nvPr/>
        </p:nvSpPr>
        <p:spPr>
          <a:xfrm>
            <a:off x="7046244" y="2387206"/>
            <a:ext cx="1534729" cy="930751"/>
          </a:xfrm>
          <a:prstGeom prst="roundRect">
            <a:avLst/>
          </a:prstGeom>
          <a:solidFill>
            <a:schemeClr val="tx1">
              <a:lumMod val="10000"/>
              <a:lumOff val="90000"/>
            </a:schemeClr>
          </a:solidFill>
          <a:ln w="254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r>
              <a:rPr lang="en-US" altLang="zh-CN" sz="1600" b="1" dirty="0">
                <a:solidFill>
                  <a:srgbClr val="000000"/>
                </a:solidFill>
                <a:latin typeface="Source Sans 3 Medium"/>
                <a:ea typeface="Source Sans 3 Medium"/>
                <a:cs typeface="Source Sans 3 Medium"/>
                <a:sym typeface="Source Sans 3 Medium"/>
              </a:rPr>
              <a:t>Standard Encoder</a:t>
            </a:r>
          </a:p>
          <a:p>
            <a:pPr defTabSz="825500"/>
            <a:r>
              <a:rPr kumimoji="0" lang="en-US" altLang="zh-CN" sz="1600" b="1" i="0" u="none" strike="noStrike" cap="none" spc="0" normalizeH="0" baseline="0" dirty="0">
                <a:ln>
                  <a:noFill/>
                </a:ln>
                <a:solidFill>
                  <a:srgbClr val="000000"/>
                </a:solidFill>
                <a:effectLst/>
                <a:uFillTx/>
                <a:latin typeface="Source Sans 3 Medium"/>
                <a:ea typeface="Source Sans 3 Medium"/>
                <a:cs typeface="Source Sans 3 Medium"/>
                <a:sym typeface="Source Sans 3 Medium"/>
              </a:rPr>
              <a:t>(JPEG/ H.264)</a:t>
            </a:r>
            <a:endParaRPr kumimoji="0" lang="zh-CN" altLang="en-US" sz="1600" b="1" i="0" u="none" strike="noStrike" cap="none" spc="0" normalizeH="0" baseline="0" dirty="0">
              <a:ln>
                <a:noFill/>
              </a:ln>
              <a:solidFill>
                <a:srgbClr val="000000"/>
              </a:solidFill>
              <a:effectLst/>
              <a:uFillTx/>
              <a:latin typeface="Source Sans 3 Medium"/>
              <a:ea typeface="Source Sans 3 Medium"/>
              <a:cs typeface="Source Sans 3 Medium"/>
              <a:sym typeface="Source Sans 3 Medium"/>
            </a:endParaRPr>
          </a:p>
        </p:txBody>
      </p:sp>
      <p:cxnSp>
        <p:nvCxnSpPr>
          <p:cNvPr id="19" name="直接箭头连接符 18">
            <a:extLst>
              <a:ext uri="{FF2B5EF4-FFF2-40B4-BE49-F238E27FC236}">
                <a16:creationId xmlns:a16="http://schemas.microsoft.com/office/drawing/2014/main" id="{D191BB54-4FBE-5C03-7EF2-C32E5EA888A0}"/>
              </a:ext>
            </a:extLst>
          </p:cNvPr>
          <p:cNvCxnSpPr>
            <a:stCxn id="14" idx="3"/>
            <a:endCxn id="18" idx="1"/>
          </p:cNvCxnSpPr>
          <p:nvPr/>
        </p:nvCxnSpPr>
        <p:spPr>
          <a:xfrm>
            <a:off x="6487728" y="2428162"/>
            <a:ext cx="558516" cy="42442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0" name="直接箭头连接符 19">
            <a:extLst>
              <a:ext uri="{FF2B5EF4-FFF2-40B4-BE49-F238E27FC236}">
                <a16:creationId xmlns:a16="http://schemas.microsoft.com/office/drawing/2014/main" id="{C081259E-2654-E7B8-4937-337A8AB7FEC8}"/>
              </a:ext>
            </a:extLst>
          </p:cNvPr>
          <p:cNvCxnSpPr>
            <a:cxnSpLocks/>
            <a:stCxn id="15" idx="3"/>
            <a:endCxn id="18" idx="1"/>
          </p:cNvCxnSpPr>
          <p:nvPr/>
        </p:nvCxnSpPr>
        <p:spPr>
          <a:xfrm flipV="1">
            <a:off x="6487727" y="2852582"/>
            <a:ext cx="558517" cy="462506"/>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45109260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oogle Shape;247;p16" descr="图片包含 文本&#10;&#10;AI 生成的内容可能不正确。">
            <a:extLst>
              <a:ext uri="{FF2B5EF4-FFF2-40B4-BE49-F238E27FC236}">
                <a16:creationId xmlns:a16="http://schemas.microsoft.com/office/drawing/2014/main" id="{FB62EED1-B15D-D9EB-6B62-5DFEA32A8CDD}"/>
              </a:ext>
            </a:extLst>
          </p:cNvPr>
          <p:cNvPicPr preferRelativeResize="0"/>
          <p:nvPr/>
        </p:nvPicPr>
        <p:blipFill rotWithShape="1">
          <a:blip r:embed="rId2">
            <a:alphaModFix/>
          </a:blip>
          <a:srcRect b="48724"/>
          <a:stretch/>
        </p:blipFill>
        <p:spPr>
          <a:xfrm>
            <a:off x="1475035" y="1475252"/>
            <a:ext cx="1830460" cy="1315524"/>
          </a:xfrm>
          <a:prstGeom prst="rect">
            <a:avLst/>
          </a:prstGeom>
          <a:noFill/>
          <a:ln>
            <a:noFill/>
          </a:ln>
        </p:spPr>
      </p:pic>
      <p:sp>
        <p:nvSpPr>
          <p:cNvPr id="12" name="Google Shape;248;p16">
            <a:extLst>
              <a:ext uri="{FF2B5EF4-FFF2-40B4-BE49-F238E27FC236}">
                <a16:creationId xmlns:a16="http://schemas.microsoft.com/office/drawing/2014/main" id="{88011016-56B3-AC25-34F0-460A2B737884}"/>
              </a:ext>
            </a:extLst>
          </p:cNvPr>
          <p:cNvSpPr txBox="1">
            <a:spLocks noGrp="1"/>
          </p:cNvSpPr>
          <p:nvPr>
            <p:ph type="title"/>
          </p:nvPr>
        </p:nvSpPr>
        <p:spPr>
          <a:xfrm>
            <a:off x="235716" y="413280"/>
            <a:ext cx="7316804" cy="653653"/>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chemeClr val="dk1"/>
              </a:buClr>
              <a:buSzPts val="2800"/>
              <a:buFont typeface="Teko"/>
              <a:buNone/>
            </a:pPr>
            <a:r>
              <a:rPr lang="en-US" sz="2800"/>
              <a:t>Evaluation Setup</a:t>
            </a:r>
            <a:endParaRPr sz="2800"/>
          </a:p>
        </p:txBody>
      </p:sp>
      <p:sp>
        <p:nvSpPr>
          <p:cNvPr id="13" name="Google Shape;249;p16">
            <a:extLst>
              <a:ext uri="{FF2B5EF4-FFF2-40B4-BE49-F238E27FC236}">
                <a16:creationId xmlns:a16="http://schemas.microsoft.com/office/drawing/2014/main" id="{F772FEAD-FFD1-F2F0-C020-3A9ECA51EA18}"/>
              </a:ext>
            </a:extLst>
          </p:cNvPr>
          <p:cNvSpPr txBox="1"/>
          <p:nvPr/>
        </p:nvSpPr>
        <p:spPr>
          <a:xfrm>
            <a:off x="4745790" y="2901293"/>
            <a:ext cx="756617" cy="37959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Radar</a:t>
            </a:r>
            <a:endParaRPr sz="1800" b="1" i="0" u="none" strike="noStrike" cap="none" dirty="0">
              <a:solidFill>
                <a:srgbClr val="000000"/>
              </a:solidFill>
              <a:latin typeface="Arial"/>
              <a:ea typeface="Arial"/>
              <a:cs typeface="Arial"/>
              <a:sym typeface="Arial"/>
            </a:endParaRPr>
          </a:p>
        </p:txBody>
      </p:sp>
      <p:pic>
        <p:nvPicPr>
          <p:cNvPr id="14" name="Google Shape;250;p16" descr="桌子上的纸杯&#10;&#10;AI 生成的内容可能不正确。">
            <a:extLst>
              <a:ext uri="{FF2B5EF4-FFF2-40B4-BE49-F238E27FC236}">
                <a16:creationId xmlns:a16="http://schemas.microsoft.com/office/drawing/2014/main" id="{EB9A173D-AC6D-F4B7-1CDE-733DDD1304E0}"/>
              </a:ext>
            </a:extLst>
          </p:cNvPr>
          <p:cNvPicPr preferRelativeResize="0"/>
          <p:nvPr/>
        </p:nvPicPr>
        <p:blipFill rotWithShape="1">
          <a:blip r:embed="rId3">
            <a:alphaModFix/>
          </a:blip>
          <a:srcRect/>
          <a:stretch/>
        </p:blipFill>
        <p:spPr>
          <a:xfrm>
            <a:off x="7944951" y="1862306"/>
            <a:ext cx="1199049" cy="898935"/>
          </a:xfrm>
          <a:prstGeom prst="rect">
            <a:avLst/>
          </a:prstGeom>
          <a:noFill/>
          <a:ln>
            <a:noFill/>
          </a:ln>
        </p:spPr>
      </p:pic>
      <p:sp>
        <p:nvSpPr>
          <p:cNvPr id="15" name="Google Shape;251;p16">
            <a:extLst>
              <a:ext uri="{FF2B5EF4-FFF2-40B4-BE49-F238E27FC236}">
                <a16:creationId xmlns:a16="http://schemas.microsoft.com/office/drawing/2014/main" id="{161EAE60-4CAD-D0AD-DE9C-29CAE569F0D6}"/>
              </a:ext>
            </a:extLst>
          </p:cNvPr>
          <p:cNvSpPr txBox="1"/>
          <p:nvPr/>
        </p:nvSpPr>
        <p:spPr>
          <a:xfrm>
            <a:off x="7445336" y="2901293"/>
            <a:ext cx="807913" cy="37959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LiDAR</a:t>
            </a:r>
            <a:endParaRPr sz="1800" b="1" i="0" u="none" strike="noStrike" cap="none" dirty="0">
              <a:solidFill>
                <a:srgbClr val="000000"/>
              </a:solidFill>
              <a:latin typeface="Arial"/>
              <a:ea typeface="Arial"/>
              <a:cs typeface="Arial"/>
              <a:sym typeface="Arial"/>
            </a:endParaRPr>
          </a:p>
        </p:txBody>
      </p:sp>
      <p:sp>
        <p:nvSpPr>
          <p:cNvPr id="17" name="Google Shape;253;p16">
            <a:extLst>
              <a:ext uri="{FF2B5EF4-FFF2-40B4-BE49-F238E27FC236}">
                <a16:creationId xmlns:a16="http://schemas.microsoft.com/office/drawing/2014/main" id="{E89970FF-A7BA-254B-B7EA-EB21D978D768}"/>
              </a:ext>
            </a:extLst>
          </p:cNvPr>
          <p:cNvSpPr/>
          <p:nvPr/>
        </p:nvSpPr>
        <p:spPr>
          <a:xfrm>
            <a:off x="791093" y="1006989"/>
            <a:ext cx="2193881" cy="17145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5G Cellular</a:t>
            </a:r>
            <a:endParaRPr sz="1800" b="1" i="0" u="none" strike="noStrike" cap="none">
              <a:solidFill>
                <a:srgbClr val="000000"/>
              </a:solidFill>
              <a:latin typeface="Source Sans 3"/>
              <a:ea typeface="Source Sans 3"/>
              <a:cs typeface="Source Sans 3"/>
              <a:sym typeface="Source Sans 3"/>
            </a:endParaRPr>
          </a:p>
        </p:txBody>
      </p:sp>
      <p:sp>
        <p:nvSpPr>
          <p:cNvPr id="18" name="Google Shape;254;p16">
            <a:extLst>
              <a:ext uri="{FF2B5EF4-FFF2-40B4-BE49-F238E27FC236}">
                <a16:creationId xmlns:a16="http://schemas.microsoft.com/office/drawing/2014/main" id="{8BAD2FEF-0699-758B-44BE-BC3FDEC88E70}"/>
              </a:ext>
            </a:extLst>
          </p:cNvPr>
          <p:cNvSpPr/>
          <p:nvPr/>
        </p:nvSpPr>
        <p:spPr>
          <a:xfrm>
            <a:off x="3949077" y="1046030"/>
            <a:ext cx="2193881" cy="17145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err="1">
                <a:solidFill>
                  <a:srgbClr val="000000"/>
                </a:solidFill>
                <a:latin typeface="Arial"/>
                <a:ea typeface="Arial"/>
                <a:cs typeface="Arial"/>
                <a:sym typeface="Arial"/>
              </a:rPr>
              <a:t>WiFi</a:t>
            </a:r>
            <a:r>
              <a:rPr lang="en-US" sz="1800" b="1" i="0" u="none" strike="noStrike" cap="none" dirty="0">
                <a:solidFill>
                  <a:srgbClr val="000000"/>
                </a:solidFill>
                <a:latin typeface="Arial"/>
                <a:ea typeface="Arial"/>
                <a:cs typeface="Arial"/>
                <a:sym typeface="Arial"/>
              </a:rPr>
              <a:t> (2.4/5 GHz)</a:t>
            </a:r>
            <a:endParaRPr sz="1800" b="1" i="0" u="none" strike="noStrike" cap="none" dirty="0">
              <a:solidFill>
                <a:srgbClr val="000000"/>
              </a:solidFill>
              <a:latin typeface="Source Sans 3"/>
              <a:ea typeface="Source Sans 3"/>
              <a:cs typeface="Source Sans 3"/>
              <a:sym typeface="Source Sans 3"/>
            </a:endParaRPr>
          </a:p>
        </p:txBody>
      </p:sp>
      <p:sp>
        <p:nvSpPr>
          <p:cNvPr id="19" name="Google Shape;255;p16">
            <a:extLst>
              <a:ext uri="{FF2B5EF4-FFF2-40B4-BE49-F238E27FC236}">
                <a16:creationId xmlns:a16="http://schemas.microsoft.com/office/drawing/2014/main" id="{A8BE5BD3-AA1E-A3D5-57CB-033EFCECD028}"/>
              </a:ext>
            </a:extLst>
          </p:cNvPr>
          <p:cNvSpPr/>
          <p:nvPr/>
        </p:nvSpPr>
        <p:spPr>
          <a:xfrm>
            <a:off x="6707666" y="1036961"/>
            <a:ext cx="2193881" cy="17145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LoRa (USRP N310)</a:t>
            </a:r>
            <a:endParaRPr sz="1800" b="1" i="0" u="none" strike="noStrike" cap="none" dirty="0">
              <a:solidFill>
                <a:srgbClr val="000000"/>
              </a:solidFill>
              <a:latin typeface="Source Sans 3"/>
              <a:ea typeface="Source Sans 3"/>
              <a:cs typeface="Source Sans 3"/>
              <a:sym typeface="Source Sans 3"/>
            </a:endParaRPr>
          </a:p>
        </p:txBody>
      </p:sp>
      <p:pic>
        <p:nvPicPr>
          <p:cNvPr id="20" name="Google Shape;256;p16" descr="汽车的方向盘&#10;&#10;AI 生成的内容可能不正确。">
            <a:extLst>
              <a:ext uri="{FF2B5EF4-FFF2-40B4-BE49-F238E27FC236}">
                <a16:creationId xmlns:a16="http://schemas.microsoft.com/office/drawing/2014/main" id="{B8980A1A-AC77-7ADF-F455-5677E673D014}"/>
              </a:ext>
            </a:extLst>
          </p:cNvPr>
          <p:cNvPicPr preferRelativeResize="0"/>
          <p:nvPr/>
        </p:nvPicPr>
        <p:blipFill rotWithShape="1">
          <a:blip r:embed="rId4">
            <a:alphaModFix/>
          </a:blip>
          <a:srcRect/>
          <a:stretch/>
        </p:blipFill>
        <p:spPr>
          <a:xfrm>
            <a:off x="141405" y="1467033"/>
            <a:ext cx="1765335" cy="1323743"/>
          </a:xfrm>
          <a:prstGeom prst="rect">
            <a:avLst/>
          </a:prstGeom>
          <a:noFill/>
          <a:ln>
            <a:noFill/>
          </a:ln>
        </p:spPr>
      </p:pic>
      <p:sp>
        <p:nvSpPr>
          <p:cNvPr id="21" name="Google Shape;257;p16">
            <a:extLst>
              <a:ext uri="{FF2B5EF4-FFF2-40B4-BE49-F238E27FC236}">
                <a16:creationId xmlns:a16="http://schemas.microsoft.com/office/drawing/2014/main" id="{AF041836-7305-AC1D-21AA-6CBBC57566AB}"/>
              </a:ext>
            </a:extLst>
          </p:cNvPr>
          <p:cNvSpPr txBox="1"/>
          <p:nvPr/>
        </p:nvSpPr>
        <p:spPr>
          <a:xfrm>
            <a:off x="1051240" y="2938831"/>
            <a:ext cx="1590179" cy="37959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Image / Video</a:t>
            </a:r>
            <a:endParaRPr sz="1800" b="1" i="0" u="none" strike="noStrike" cap="none">
              <a:solidFill>
                <a:srgbClr val="000000"/>
              </a:solidFill>
              <a:latin typeface="Arial"/>
              <a:ea typeface="Arial"/>
              <a:cs typeface="Arial"/>
              <a:sym typeface="Arial"/>
            </a:endParaRPr>
          </a:p>
        </p:txBody>
      </p:sp>
      <p:sp>
        <p:nvSpPr>
          <p:cNvPr id="22" name="Google Shape;258;p16">
            <a:extLst>
              <a:ext uri="{FF2B5EF4-FFF2-40B4-BE49-F238E27FC236}">
                <a16:creationId xmlns:a16="http://schemas.microsoft.com/office/drawing/2014/main" id="{69368BDB-B714-95F1-99CA-3E208F8173ED}"/>
              </a:ext>
            </a:extLst>
          </p:cNvPr>
          <p:cNvSpPr txBox="1"/>
          <p:nvPr/>
        </p:nvSpPr>
        <p:spPr>
          <a:xfrm>
            <a:off x="306240" y="3336725"/>
            <a:ext cx="8531518" cy="923289"/>
          </a:xfrm>
          <a:prstGeom prst="rect">
            <a:avLst/>
          </a:prstGeom>
          <a:noFill/>
          <a:ln>
            <a:noFill/>
          </a:ln>
        </p:spPr>
        <p:txBody>
          <a:bodyPr spcFirstLastPara="1" wrap="square" lIns="91425" tIns="45700" rIns="91425" bIns="45700" anchor="t" anchorCtr="0">
            <a:spAutoFit/>
          </a:bodyPr>
          <a:lstStyle/>
          <a:p>
            <a:pPr marL="285750" lvl="0" indent="-285750" algn="l">
              <a:buClr>
                <a:schemeClr val="dk1"/>
              </a:buClr>
              <a:buSzPts val="1800"/>
              <a:buFont typeface="Arial"/>
              <a:buChar char="•"/>
            </a:pPr>
            <a:r>
              <a:rPr lang="en-US" sz="1800" i="0" u="none" strike="noStrike" cap="none" dirty="0">
                <a:solidFill>
                  <a:schemeClr val="dk1"/>
                </a:solidFill>
                <a:latin typeface="Arial" panose="020B0604020202020204" pitchFamily="34" charset="0"/>
                <a:ea typeface="Arial"/>
                <a:cs typeface="Arial" panose="020B0604020202020204" pitchFamily="34" charset="0"/>
                <a:sym typeface="Arial"/>
              </a:rPr>
              <a:t>Image</a:t>
            </a:r>
            <a:r>
              <a:rPr lang="zh-CN" altLang="en-US" sz="1800" i="0" u="none" strike="noStrike" cap="none" dirty="0">
                <a:solidFill>
                  <a:schemeClr val="dk1"/>
                </a:solidFill>
                <a:latin typeface="Arial" panose="020B0604020202020204" pitchFamily="34" charset="0"/>
                <a:ea typeface="Arial"/>
                <a:cs typeface="Arial" panose="020B0604020202020204" pitchFamily="34" charset="0"/>
                <a:sym typeface="Arial"/>
              </a:rPr>
              <a:t> </a:t>
            </a:r>
            <a:r>
              <a:rPr lang="en-US" altLang="zh-CN" sz="1800" i="0" u="none" strike="noStrike" cap="none" dirty="0">
                <a:solidFill>
                  <a:schemeClr val="dk1"/>
                </a:solidFill>
                <a:latin typeface="Arial" panose="020B0604020202020204" pitchFamily="34" charset="0"/>
                <a:ea typeface="Arial"/>
                <a:cs typeface="Arial" panose="020B0604020202020204" pitchFamily="34" charset="0"/>
                <a:sym typeface="Arial"/>
              </a:rPr>
              <a:t>and</a:t>
            </a:r>
            <a:r>
              <a:rPr lang="zh-CN" altLang="en-US" sz="1800" i="0" u="none" strike="noStrike" cap="none" dirty="0">
                <a:solidFill>
                  <a:schemeClr val="dk1"/>
                </a:solidFill>
                <a:latin typeface="Arial" panose="020B0604020202020204" pitchFamily="34" charset="0"/>
                <a:ea typeface="Arial"/>
                <a:cs typeface="Arial" panose="020B0604020202020204" pitchFamily="34" charset="0"/>
                <a:sym typeface="Arial"/>
              </a:rPr>
              <a:t> </a:t>
            </a:r>
            <a:r>
              <a:rPr lang="en-US" altLang="zh-CN" sz="1800" dirty="0">
                <a:solidFill>
                  <a:schemeClr val="dk1"/>
                </a:solidFill>
                <a:latin typeface="Arial" panose="020B0604020202020204" pitchFamily="34" charset="0"/>
                <a:ea typeface="Arial"/>
                <a:cs typeface="Arial" panose="020B0604020202020204" pitchFamily="34" charset="0"/>
                <a:sym typeface="Arial"/>
              </a:rPr>
              <a:t>Video</a:t>
            </a:r>
            <a:r>
              <a:rPr lang="en-US" sz="1800" i="0" u="none" strike="noStrike" cap="none" dirty="0">
                <a:solidFill>
                  <a:schemeClr val="dk1"/>
                </a:solidFill>
                <a:latin typeface="Arial" panose="020B0604020202020204" pitchFamily="34" charset="0"/>
                <a:ea typeface="Arial"/>
                <a:cs typeface="Arial" panose="020B0604020202020204" pitchFamily="34" charset="0"/>
                <a:sym typeface="Arial"/>
              </a:rPr>
              <a:t> on 5G Cellular Networks</a:t>
            </a:r>
            <a:endParaRPr dirty="0">
              <a:latin typeface="Arial" panose="020B0604020202020204" pitchFamily="34" charset="0"/>
              <a:cs typeface="Arial" panose="020B0604020202020204" pitchFamily="34" charset="0"/>
            </a:endParaRPr>
          </a:p>
          <a:p>
            <a:pPr marL="285750" marR="0" lvl="0" indent="-285750" algn="l" rtl="0">
              <a:lnSpc>
                <a:spcPct val="100000"/>
              </a:lnSpc>
              <a:spcBef>
                <a:spcPts val="0"/>
              </a:spcBef>
              <a:spcAft>
                <a:spcPts val="0"/>
              </a:spcAft>
              <a:buClr>
                <a:schemeClr val="dk1"/>
              </a:buClr>
              <a:buSzPts val="1800"/>
              <a:buFont typeface="Arial"/>
              <a:buChar char="•"/>
            </a:pPr>
            <a:r>
              <a:rPr lang="en-US" sz="1800" i="0" u="none" strike="noStrike" cap="none" dirty="0">
                <a:solidFill>
                  <a:schemeClr val="dk1"/>
                </a:solidFill>
                <a:latin typeface="Arial" panose="020B0604020202020204" pitchFamily="34" charset="0"/>
                <a:ea typeface="Arial"/>
                <a:cs typeface="Arial" panose="020B0604020202020204" pitchFamily="34" charset="0"/>
                <a:sym typeface="Arial"/>
              </a:rPr>
              <a:t>Radar on </a:t>
            </a:r>
            <a:r>
              <a:rPr lang="en-US" sz="1800" i="0" u="none" strike="noStrike" cap="none" dirty="0" err="1">
                <a:solidFill>
                  <a:schemeClr val="dk1"/>
                </a:solidFill>
                <a:latin typeface="Arial" panose="020B0604020202020204" pitchFamily="34" charset="0"/>
                <a:ea typeface="Arial"/>
                <a:cs typeface="Arial" panose="020B0604020202020204" pitchFamily="34" charset="0"/>
                <a:sym typeface="Arial"/>
              </a:rPr>
              <a:t>WiFi</a:t>
            </a:r>
            <a:endParaRPr sz="1800" i="0" u="none" strike="noStrike" cap="none" dirty="0">
              <a:solidFill>
                <a:schemeClr val="dk1"/>
              </a:solidFill>
              <a:latin typeface="Arial" panose="020B0604020202020204" pitchFamily="34" charset="0"/>
              <a:ea typeface="Arial"/>
              <a:cs typeface="Arial" panose="020B0604020202020204" pitchFamily="34" charset="0"/>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i="0" u="none" strike="noStrike" cap="none" dirty="0">
                <a:solidFill>
                  <a:schemeClr val="dk1"/>
                </a:solidFill>
                <a:latin typeface="Arial" panose="020B0604020202020204" pitchFamily="34" charset="0"/>
                <a:ea typeface="Arial"/>
                <a:cs typeface="Arial" panose="020B0604020202020204" pitchFamily="34" charset="0"/>
                <a:sym typeface="Arial"/>
              </a:rPr>
              <a:t>LiDAR on LoRa (</a:t>
            </a:r>
            <a:r>
              <a:rPr lang="en-US" sz="1800" i="0" u="none" strike="noStrike" cap="none" dirty="0">
                <a:solidFill>
                  <a:srgbClr val="007F7F"/>
                </a:solidFill>
                <a:latin typeface="Arial" panose="020B0604020202020204" pitchFamily="34" charset="0"/>
                <a:ea typeface="Arial"/>
                <a:cs typeface="Arial" panose="020B0604020202020204" pitchFamily="34" charset="0"/>
                <a:sym typeface="Arial"/>
              </a:rPr>
              <a:t>Lo</a:t>
            </a:r>
            <a:r>
              <a:rPr lang="en-US" sz="1800" i="0" u="none" strike="noStrike" cap="none" dirty="0">
                <a:solidFill>
                  <a:schemeClr val="dk1"/>
                </a:solidFill>
                <a:latin typeface="Arial" panose="020B0604020202020204" pitchFamily="34" charset="0"/>
                <a:ea typeface="Arial"/>
                <a:cs typeface="Arial" panose="020B0604020202020204" pitchFamily="34" charset="0"/>
                <a:sym typeface="Arial"/>
              </a:rPr>
              <a:t>ng </a:t>
            </a:r>
            <a:r>
              <a:rPr lang="en-US" sz="1800" i="0" u="none" strike="noStrike" cap="none" dirty="0">
                <a:solidFill>
                  <a:srgbClr val="007F7F"/>
                </a:solidFill>
                <a:latin typeface="Arial" panose="020B0604020202020204" pitchFamily="34" charset="0"/>
                <a:ea typeface="Arial"/>
                <a:cs typeface="Arial" panose="020B0604020202020204" pitchFamily="34" charset="0"/>
                <a:sym typeface="Arial"/>
              </a:rPr>
              <a:t>Ra</a:t>
            </a:r>
            <a:r>
              <a:rPr lang="en-US" sz="1800" i="0" u="none" strike="noStrike" cap="none" dirty="0">
                <a:solidFill>
                  <a:schemeClr val="dk1"/>
                </a:solidFill>
                <a:latin typeface="Arial" panose="020B0604020202020204" pitchFamily="34" charset="0"/>
                <a:ea typeface="Arial"/>
                <a:cs typeface="Arial" panose="020B0604020202020204" pitchFamily="34" charset="0"/>
                <a:sym typeface="Arial"/>
              </a:rPr>
              <a:t>nge, low-power wireless protocol) </a:t>
            </a:r>
            <a:endParaRPr sz="1800" i="0" u="none" strike="noStrike" cap="none" dirty="0">
              <a:solidFill>
                <a:schemeClr val="dk1"/>
              </a:solidFill>
              <a:latin typeface="Arial" panose="020B0604020202020204" pitchFamily="34" charset="0"/>
              <a:ea typeface="Arial"/>
              <a:cs typeface="Arial" panose="020B0604020202020204" pitchFamily="34" charset="0"/>
              <a:sym typeface="Arial"/>
            </a:endParaRPr>
          </a:p>
        </p:txBody>
      </p:sp>
      <p:pic>
        <p:nvPicPr>
          <p:cNvPr id="5" name="图片 4">
            <a:extLst>
              <a:ext uri="{FF2B5EF4-FFF2-40B4-BE49-F238E27FC236}">
                <a16:creationId xmlns:a16="http://schemas.microsoft.com/office/drawing/2014/main" id="{75A247C4-1DBB-3498-5D48-891771025C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45557" y="1490139"/>
            <a:ext cx="993568" cy="1326312"/>
          </a:xfrm>
          <a:prstGeom prst="rect">
            <a:avLst/>
          </a:prstGeom>
        </p:spPr>
      </p:pic>
      <p:pic>
        <p:nvPicPr>
          <p:cNvPr id="7" name="图片 6">
            <a:extLst>
              <a:ext uri="{FF2B5EF4-FFF2-40B4-BE49-F238E27FC236}">
                <a16:creationId xmlns:a16="http://schemas.microsoft.com/office/drawing/2014/main" id="{F4786190-1ED8-6D9C-CBC1-5237B08834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88476" y="1477400"/>
            <a:ext cx="1856475" cy="1313376"/>
          </a:xfrm>
          <a:prstGeom prst="rect">
            <a:avLst/>
          </a:prstGeom>
        </p:spPr>
      </p:pic>
    </p:spTree>
    <p:extLst>
      <p:ext uri="{BB962C8B-B14F-4D97-AF65-F5344CB8AC3E}">
        <p14:creationId xmlns:p14="http://schemas.microsoft.com/office/powerpoint/2010/main" val="284601796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BE11A-4DE1-D075-AD49-49FADFD03F47}"/>
            </a:ext>
          </a:extLst>
        </p:cNvPr>
        <p:cNvGrpSpPr/>
        <p:nvPr/>
      </p:nvGrpSpPr>
      <p:grpSpPr>
        <a:xfrm>
          <a:off x="0" y="0"/>
          <a:ext cx="0" cy="0"/>
          <a:chOff x="0" y="0"/>
          <a:chExt cx="0" cy="0"/>
        </a:xfrm>
      </p:grpSpPr>
      <p:sp>
        <p:nvSpPr>
          <p:cNvPr id="12" name="Google Shape;248;p16">
            <a:extLst>
              <a:ext uri="{FF2B5EF4-FFF2-40B4-BE49-F238E27FC236}">
                <a16:creationId xmlns:a16="http://schemas.microsoft.com/office/drawing/2014/main" id="{6B5D3445-3321-27AE-BDCF-D2567E7F4499}"/>
              </a:ext>
            </a:extLst>
          </p:cNvPr>
          <p:cNvSpPr txBox="1">
            <a:spLocks noGrp="1"/>
          </p:cNvSpPr>
          <p:nvPr>
            <p:ph type="title"/>
          </p:nvPr>
        </p:nvSpPr>
        <p:spPr>
          <a:xfrm>
            <a:off x="235716" y="413280"/>
            <a:ext cx="7316804" cy="653653"/>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chemeClr val="dk1"/>
              </a:buClr>
              <a:buSzPts val="2800"/>
              <a:buFont typeface="Teko"/>
              <a:buNone/>
            </a:pPr>
            <a:r>
              <a:rPr lang="en-US" altLang="zh-CN" sz="2800" dirty="0"/>
              <a:t>Image and Video</a:t>
            </a:r>
            <a:endParaRPr sz="2800" dirty="0"/>
          </a:p>
        </p:txBody>
      </p:sp>
      <p:pic>
        <p:nvPicPr>
          <p:cNvPr id="4" name="图片 3">
            <a:extLst>
              <a:ext uri="{FF2B5EF4-FFF2-40B4-BE49-F238E27FC236}">
                <a16:creationId xmlns:a16="http://schemas.microsoft.com/office/drawing/2014/main" id="{664E60FC-C8A1-7AF6-880F-1840AFF46B81}"/>
              </a:ext>
            </a:extLst>
          </p:cNvPr>
          <p:cNvPicPr>
            <a:picLocks noChangeAspect="1"/>
          </p:cNvPicPr>
          <p:nvPr/>
        </p:nvPicPr>
        <p:blipFill>
          <a:blip r:embed="rId3"/>
          <a:srcRect r="50171"/>
          <a:stretch>
            <a:fillRect/>
          </a:stretch>
        </p:blipFill>
        <p:spPr>
          <a:xfrm>
            <a:off x="2040467" y="2546626"/>
            <a:ext cx="2638867" cy="1700940"/>
          </a:xfrm>
          <a:prstGeom prst="rect">
            <a:avLst/>
          </a:prstGeom>
        </p:spPr>
      </p:pic>
      <p:pic>
        <p:nvPicPr>
          <p:cNvPr id="6" name="图片 5">
            <a:extLst>
              <a:ext uri="{FF2B5EF4-FFF2-40B4-BE49-F238E27FC236}">
                <a16:creationId xmlns:a16="http://schemas.microsoft.com/office/drawing/2014/main" id="{91A6CDC2-CD63-E285-8853-FC672DB84134}"/>
              </a:ext>
            </a:extLst>
          </p:cNvPr>
          <p:cNvPicPr>
            <a:picLocks noChangeAspect="1"/>
          </p:cNvPicPr>
          <p:nvPr/>
        </p:nvPicPr>
        <p:blipFill>
          <a:blip r:embed="rId4"/>
          <a:stretch>
            <a:fillRect/>
          </a:stretch>
        </p:blipFill>
        <p:spPr>
          <a:xfrm>
            <a:off x="2040467" y="995266"/>
            <a:ext cx="5394501" cy="1551360"/>
          </a:xfrm>
          <a:prstGeom prst="rect">
            <a:avLst/>
          </a:prstGeom>
        </p:spPr>
      </p:pic>
      <p:pic>
        <p:nvPicPr>
          <p:cNvPr id="7" name="图片 6">
            <a:extLst>
              <a:ext uri="{FF2B5EF4-FFF2-40B4-BE49-F238E27FC236}">
                <a16:creationId xmlns:a16="http://schemas.microsoft.com/office/drawing/2014/main" id="{29425F08-5177-3AA0-9ED4-A3D147D8A0CE}"/>
              </a:ext>
            </a:extLst>
          </p:cNvPr>
          <p:cNvPicPr>
            <a:picLocks noChangeAspect="1"/>
          </p:cNvPicPr>
          <p:nvPr/>
        </p:nvPicPr>
        <p:blipFill>
          <a:blip r:embed="rId3"/>
          <a:srcRect l="50171"/>
          <a:stretch>
            <a:fillRect/>
          </a:stretch>
        </p:blipFill>
        <p:spPr>
          <a:xfrm>
            <a:off x="4796100" y="2546626"/>
            <a:ext cx="2638868" cy="1700940"/>
          </a:xfrm>
          <a:prstGeom prst="rect">
            <a:avLst/>
          </a:prstGeom>
        </p:spPr>
      </p:pic>
      <p:sp>
        <p:nvSpPr>
          <p:cNvPr id="8" name="文本框 7">
            <a:extLst>
              <a:ext uri="{FF2B5EF4-FFF2-40B4-BE49-F238E27FC236}">
                <a16:creationId xmlns:a16="http://schemas.microsoft.com/office/drawing/2014/main" id="{2D3B37E5-16D8-A470-8C78-BFF4A17CB93A}"/>
              </a:ext>
            </a:extLst>
          </p:cNvPr>
          <p:cNvSpPr txBox="1"/>
          <p:nvPr/>
        </p:nvSpPr>
        <p:spPr>
          <a:xfrm>
            <a:off x="2682664" y="841377"/>
            <a:ext cx="4574540"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1400" b="1" dirty="0">
                <a:latin typeface="Arial" panose="020B0604020202020204" pitchFamily="34" charset="0"/>
                <a:cs typeface="Arial" panose="020B0604020202020204" pitchFamily="34" charset="0"/>
              </a:rPr>
              <a:t>Image Transmission</a:t>
            </a:r>
            <a:endParaRPr lang="zh-CN" altLang="en-US" sz="1400" b="1" dirty="0">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AD330A8F-1E8B-5EEA-8F55-96808AFEE33F}"/>
              </a:ext>
            </a:extLst>
          </p:cNvPr>
          <p:cNvSpPr txBox="1"/>
          <p:nvPr/>
        </p:nvSpPr>
        <p:spPr>
          <a:xfrm>
            <a:off x="2712297" y="2509310"/>
            <a:ext cx="4574540"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1400" b="1" dirty="0">
                <a:latin typeface="Arial" panose="020B0604020202020204" pitchFamily="34" charset="0"/>
                <a:cs typeface="Arial" panose="020B0604020202020204" pitchFamily="34" charset="0"/>
              </a:rPr>
              <a:t>Video Transmission</a:t>
            </a:r>
            <a:endParaRPr lang="zh-CN" altLang="en-US" sz="1400" b="1" dirty="0">
              <a:latin typeface="Arial" panose="020B0604020202020204" pitchFamily="34" charset="0"/>
              <a:cs typeface="Arial" panose="020B0604020202020204" pitchFamily="34" charset="0"/>
            </a:endParaRPr>
          </a:p>
        </p:txBody>
      </p:sp>
      <p:sp>
        <p:nvSpPr>
          <p:cNvPr id="10" name="矩形 9">
            <a:extLst>
              <a:ext uri="{FF2B5EF4-FFF2-40B4-BE49-F238E27FC236}">
                <a16:creationId xmlns:a16="http://schemas.microsoft.com/office/drawing/2014/main" id="{E2603C4F-1FDA-F634-8ED1-4941E5DE4324}"/>
              </a:ext>
            </a:extLst>
          </p:cNvPr>
          <p:cNvSpPr/>
          <p:nvPr/>
        </p:nvSpPr>
        <p:spPr>
          <a:xfrm>
            <a:off x="1544143" y="4284882"/>
            <a:ext cx="6503913" cy="65659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rPr>
              <a:t>3× higher task performance under heavy loss</a:t>
            </a:r>
          </a:p>
          <a:p>
            <a:pPr marL="0" marR="0" indent="0" algn="ctr" defTabSz="8255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rPr>
              <a:t>~2× more bandwidth-efficient at the same accuracy</a:t>
            </a:r>
            <a:endParaRPr kumimoji="0" lang="zh-CN" altLang="en-US" sz="18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endParaRPr>
          </a:p>
        </p:txBody>
      </p:sp>
    </p:spTree>
    <p:extLst>
      <p:ext uri="{BB962C8B-B14F-4D97-AF65-F5344CB8AC3E}">
        <p14:creationId xmlns:p14="http://schemas.microsoft.com/office/powerpoint/2010/main" val="79397850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示, 表格&#10;&#10;AI 生成的内容可能不正确。">
            <a:extLst>
              <a:ext uri="{FF2B5EF4-FFF2-40B4-BE49-F238E27FC236}">
                <a16:creationId xmlns:a16="http://schemas.microsoft.com/office/drawing/2014/main" id="{AE4C4DD0-46CA-0D69-1E57-E469AE632B27}"/>
              </a:ext>
            </a:extLst>
          </p:cNvPr>
          <p:cNvPicPr>
            <a:picLocks noChangeAspect="1"/>
          </p:cNvPicPr>
          <p:nvPr/>
        </p:nvPicPr>
        <p:blipFill>
          <a:blip r:embed="rId3"/>
          <a:stretch>
            <a:fillRect/>
          </a:stretch>
        </p:blipFill>
        <p:spPr>
          <a:xfrm>
            <a:off x="126275" y="1475615"/>
            <a:ext cx="4574116" cy="960180"/>
          </a:xfrm>
          <a:prstGeom prst="rect">
            <a:avLst/>
          </a:prstGeom>
        </p:spPr>
      </p:pic>
      <p:sp>
        <p:nvSpPr>
          <p:cNvPr id="9" name="Title 3">
            <a:extLst>
              <a:ext uri="{FF2B5EF4-FFF2-40B4-BE49-F238E27FC236}">
                <a16:creationId xmlns:a16="http://schemas.microsoft.com/office/drawing/2014/main" id="{A00B5000-001B-D4C4-B1F5-8B74E1A9889B}"/>
              </a:ext>
            </a:extLst>
          </p:cNvPr>
          <p:cNvSpPr>
            <a:spLocks noGrp="1"/>
          </p:cNvSpPr>
          <p:nvPr>
            <p:ph type="title"/>
          </p:nvPr>
        </p:nvSpPr>
        <p:spPr>
          <a:xfrm>
            <a:off x="235716" y="413280"/>
            <a:ext cx="7316804" cy="653653"/>
          </a:xfrm>
        </p:spPr>
        <p:txBody>
          <a:bodyPr>
            <a:normAutofit/>
          </a:bodyPr>
          <a:lstStyle/>
          <a:p>
            <a:r>
              <a:rPr lang="en-US" altLang="zh-CN" sz="2800" dirty="0"/>
              <a:t>System Implementations</a:t>
            </a:r>
            <a:endParaRPr lang="en-US" sz="2800" dirty="0"/>
          </a:p>
        </p:txBody>
      </p:sp>
      <p:sp>
        <p:nvSpPr>
          <p:cNvPr id="11" name="文本框 10">
            <a:extLst>
              <a:ext uri="{FF2B5EF4-FFF2-40B4-BE49-F238E27FC236}">
                <a16:creationId xmlns:a16="http://schemas.microsoft.com/office/drawing/2014/main" id="{3454E54E-37D9-9AAA-CAB3-D54817F3DCE9}"/>
              </a:ext>
            </a:extLst>
          </p:cNvPr>
          <p:cNvSpPr txBox="1"/>
          <p:nvPr/>
        </p:nvSpPr>
        <p:spPr>
          <a:xfrm>
            <a:off x="184916" y="1011899"/>
            <a:ext cx="4574116"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sz="1800" b="1" dirty="0">
                <a:solidFill>
                  <a:schemeClr val="tx1"/>
                </a:solidFill>
                <a:latin typeface="Arial" panose="020B0604020202020204" pitchFamily="34" charset="0"/>
                <a:cs typeface="Arial" panose="020B0604020202020204" pitchFamily="34" charset="0"/>
              </a:rPr>
              <a:t>Parallel and Pipelined Processing</a:t>
            </a:r>
            <a:endParaRPr lang="zh-CN" altLang="en-US" sz="1800" b="1" dirty="0">
              <a:solidFill>
                <a:schemeClr val="tx1"/>
              </a:solidFill>
              <a:latin typeface="Arial" panose="020B0604020202020204" pitchFamily="34" charset="0"/>
              <a:cs typeface="Arial" panose="020B0604020202020204" pitchFamily="34" charset="0"/>
            </a:endParaRPr>
          </a:p>
        </p:txBody>
      </p:sp>
      <p:sp>
        <p:nvSpPr>
          <p:cNvPr id="13" name="Rectangle 2">
            <a:extLst>
              <a:ext uri="{FF2B5EF4-FFF2-40B4-BE49-F238E27FC236}">
                <a16:creationId xmlns:a16="http://schemas.microsoft.com/office/drawing/2014/main" id="{F6865A30-6475-9793-3B8C-515CE374A16E}"/>
              </a:ext>
            </a:extLst>
          </p:cNvPr>
          <p:cNvSpPr>
            <a:spLocks noChangeArrowheads="1"/>
          </p:cNvSpPr>
          <p:nvPr/>
        </p:nvSpPr>
        <p:spPr bwMode="auto">
          <a:xfrm>
            <a:off x="208864" y="2648830"/>
            <a:ext cx="804976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800" b="0" i="0" u="none" strike="noStrike" cap="none" normalizeH="0" baseline="0" dirty="0">
                <a:ln>
                  <a:noFill/>
                </a:ln>
                <a:solidFill>
                  <a:srgbClr val="000000"/>
                </a:solidFill>
                <a:effectLst/>
                <a:latin typeface="Arial" panose="020B0604020202020204" pitchFamily="34" charset="0"/>
              </a:rPr>
              <a:t>3 stages run as producer–consumer pipeline: KDC → encode → transmit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800" b="0" i="0" u="none" strike="noStrike" cap="none" normalizeH="0" baseline="0" dirty="0">
                <a:ln>
                  <a:noFill/>
                </a:ln>
                <a:solidFill>
                  <a:srgbClr val="000000"/>
                </a:solidFill>
                <a:effectLst/>
                <a:latin typeface="Arial" panose="020B0604020202020204" pitchFamily="34" charset="0"/>
              </a:rPr>
              <a:t>KDC per-frame operations are stateless → parallelizable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800" b="0" i="0" u="none" strike="noStrike" cap="none" normalizeH="0" baseline="0" dirty="0">
                <a:ln>
                  <a:noFill/>
                </a:ln>
                <a:solidFill>
                  <a:srgbClr val="000000"/>
                </a:solidFill>
                <a:effectLst/>
                <a:latin typeface="Arial" panose="020B0604020202020204" pitchFamily="34" charset="0"/>
              </a:rPr>
              <a:t>Mask caching reuses importance maps for similar frames </a:t>
            </a:r>
            <a:endParaRPr kumimoji="0" lang="en-US" altLang="zh-CN" sz="1800" b="0" i="0" u="none" strike="noStrike" cap="none" normalizeH="0" baseline="0" dirty="0">
              <a:ln>
                <a:noFill/>
              </a:ln>
              <a:solidFill>
                <a:srgbClr val="000000"/>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1800" dirty="0">
                <a:solidFill>
                  <a:srgbClr val="000000"/>
                </a:solidFill>
                <a:latin typeface="Arial" panose="020B0604020202020204" pitchFamily="34" charset="0"/>
              </a:rPr>
              <a:t>Results</a:t>
            </a:r>
          </a:p>
          <a:p>
            <a:pPr marL="285750" lvl="2" indent="-285750" algn="l" defTabSz="914400" eaLnBrk="0" fontAlgn="base">
              <a:spcBef>
                <a:spcPct val="0"/>
              </a:spcBef>
              <a:spcAft>
                <a:spcPct val="0"/>
              </a:spcAft>
              <a:buFont typeface="Arial" panose="020B0604020202020204" pitchFamily="34" charset="0"/>
              <a:buChar char="•"/>
            </a:pPr>
            <a:r>
              <a:rPr kumimoji="0" lang="en-US" altLang="zh-CN" sz="1800" b="0" i="0" u="none" strike="noStrike" cap="none" normalizeH="0" baseline="0" dirty="0">
                <a:ln>
                  <a:noFill/>
                </a:ln>
                <a:solidFill>
                  <a:srgbClr val="000000"/>
                </a:solidFill>
                <a:effectLst/>
                <a:latin typeface="Arial" panose="020B0604020202020204" pitchFamily="34" charset="0"/>
              </a:rPr>
              <a:t>     32FPS a</a:t>
            </a:r>
            <a:r>
              <a:rPr lang="en-US" altLang="zh-CN" sz="1800" dirty="0">
                <a:solidFill>
                  <a:srgbClr val="000000"/>
                </a:solidFill>
                <a:latin typeface="Arial" panose="020B0604020202020204" pitchFamily="34" charset="0"/>
              </a:rPr>
              <a:t>t 1080p video streaming on edge device.</a:t>
            </a:r>
          </a:p>
          <a:p>
            <a:pPr marL="285750" lvl="4" indent="-285750" algn="l" defTabSz="914400" eaLnBrk="0" fontAlgn="base">
              <a:spcBef>
                <a:spcPct val="0"/>
              </a:spcBef>
              <a:spcAft>
                <a:spcPct val="0"/>
              </a:spcAft>
              <a:buFont typeface="Arial" panose="020B0604020202020204" pitchFamily="34" charset="0"/>
              <a:buChar char="•"/>
            </a:pPr>
            <a:r>
              <a:rPr kumimoji="0" lang="en-US" altLang="zh-CN" sz="1800" b="0" i="0" u="none" strike="noStrike" cap="none" normalizeH="0" baseline="0" dirty="0">
                <a:ln>
                  <a:noFill/>
                </a:ln>
                <a:solidFill>
                  <a:srgbClr val="000000"/>
                </a:solidFill>
                <a:effectLst/>
                <a:latin typeface="Arial" panose="020B0604020202020204" pitchFamily="34" charset="0"/>
              </a:rPr>
              <a:t>     100FPS+ on laptop with RTX 4080 </a:t>
            </a:r>
            <a:r>
              <a:rPr kumimoji="0" lang="en-US" altLang="zh-CN" sz="1800" b="0" i="0" u="none" strike="noStrike" cap="none" normalizeH="0" baseline="0" dirty="0" err="1">
                <a:ln>
                  <a:noFill/>
                </a:ln>
                <a:solidFill>
                  <a:srgbClr val="000000"/>
                </a:solidFill>
                <a:effectLst/>
                <a:latin typeface="Arial" panose="020B0604020202020204" pitchFamily="34" charset="0"/>
              </a:rPr>
              <a:t>gpu</a:t>
            </a:r>
            <a:r>
              <a:rPr kumimoji="0" lang="en-US" altLang="zh-CN" sz="1800" b="0" i="0" u="none" strike="noStrike" cap="none" normalizeH="0" baseline="0" dirty="0">
                <a:ln>
                  <a:noFill/>
                </a:ln>
                <a:solidFill>
                  <a:srgbClr val="000000"/>
                </a:solidFill>
                <a:effectLst/>
                <a:latin typeface="Arial" panose="020B0604020202020204" pitchFamily="34" charset="0"/>
              </a:rPr>
              <a:t>.</a:t>
            </a:r>
            <a:endParaRPr kumimoji="0" lang="zh-CN" altLang="zh-CN" sz="1800" b="0" i="0" u="none" strike="noStrike" cap="none" normalizeH="0" baseline="0" dirty="0">
              <a:ln>
                <a:noFill/>
              </a:ln>
              <a:solidFill>
                <a:srgbClr val="000000"/>
              </a:solidFill>
              <a:effectLst/>
              <a:latin typeface="Arial" panose="020B0604020202020204" pitchFamily="34" charset="0"/>
            </a:endParaRPr>
          </a:p>
        </p:txBody>
      </p:sp>
      <p:pic>
        <p:nvPicPr>
          <p:cNvPr id="2" name="图片 1" descr="图表, 箱线图&#10;&#10;AI 生成的内容可能不正确。">
            <a:extLst>
              <a:ext uri="{FF2B5EF4-FFF2-40B4-BE49-F238E27FC236}">
                <a16:creationId xmlns:a16="http://schemas.microsoft.com/office/drawing/2014/main" id="{FDEFB2A9-871C-C20F-854C-538B1535271F}"/>
              </a:ext>
            </a:extLst>
          </p:cNvPr>
          <p:cNvPicPr>
            <a:picLocks noChangeAspect="1"/>
          </p:cNvPicPr>
          <p:nvPr/>
        </p:nvPicPr>
        <p:blipFill>
          <a:blip r:embed="rId4"/>
          <a:stretch>
            <a:fillRect/>
          </a:stretch>
        </p:blipFill>
        <p:spPr>
          <a:xfrm>
            <a:off x="4789616" y="948063"/>
            <a:ext cx="4118668" cy="1487732"/>
          </a:xfrm>
          <a:prstGeom prst="rect">
            <a:avLst/>
          </a:prstGeom>
        </p:spPr>
      </p:pic>
    </p:spTree>
    <p:extLst>
      <p:ext uri="{BB962C8B-B14F-4D97-AF65-F5344CB8AC3E}">
        <p14:creationId xmlns:p14="http://schemas.microsoft.com/office/powerpoint/2010/main" val="162041002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96D67975-3E5C-3D9C-197B-818295BFF87C}"/>
              </a:ext>
            </a:extLst>
          </p:cNvPr>
          <p:cNvSpPr>
            <a:spLocks noGrp="1"/>
          </p:cNvSpPr>
          <p:nvPr>
            <p:ph type="title"/>
          </p:nvPr>
        </p:nvSpPr>
        <p:spPr>
          <a:xfrm>
            <a:off x="235716" y="413280"/>
            <a:ext cx="7316804" cy="653653"/>
          </a:xfrm>
        </p:spPr>
        <p:txBody>
          <a:bodyPr>
            <a:normAutofit/>
          </a:bodyPr>
          <a:lstStyle/>
          <a:p>
            <a:r>
              <a:rPr lang="en-US" altLang="zh-CN" sz="2800" dirty="0"/>
              <a:t>Summary: Knowledge</a:t>
            </a:r>
            <a:r>
              <a:rPr lang="zh-CN" altLang="en-US" sz="2800" dirty="0"/>
              <a:t> </a:t>
            </a:r>
            <a:r>
              <a:rPr lang="en-US" altLang="zh-CN" sz="2800" dirty="0"/>
              <a:t>Driven</a:t>
            </a:r>
            <a:r>
              <a:rPr lang="zh-CN" altLang="en-US" sz="2800" dirty="0"/>
              <a:t> </a:t>
            </a:r>
            <a:r>
              <a:rPr lang="en-US" altLang="zh-CN" sz="2800" dirty="0"/>
              <a:t>Communication</a:t>
            </a:r>
            <a:endParaRPr lang="en-US" sz="2800" dirty="0"/>
          </a:p>
        </p:txBody>
      </p:sp>
      <p:pic>
        <p:nvPicPr>
          <p:cNvPr id="2" name="Picture 2" descr="KDC system workflow: task-aware transmitter, codec wrapper, and knowledge-conditioned receiver">
            <a:extLst>
              <a:ext uri="{FF2B5EF4-FFF2-40B4-BE49-F238E27FC236}">
                <a16:creationId xmlns:a16="http://schemas.microsoft.com/office/drawing/2014/main" id="{8CB8A230-6E3C-5492-1AC3-752EB7D8BA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60958" y="1066933"/>
            <a:ext cx="5591562" cy="3091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751553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4" name="Image" descr="UC San Diego Logo"/>
          <p:cNvPicPr>
            <a:picLocks noGrp="1" noChangeAspect="1"/>
          </p:cNvPicPr>
          <p:nvPr>
            <p:ph type="pic" idx="21"/>
          </p:nvPr>
        </p:nvPicPr>
        <p:blipFill>
          <a:blip r:embed="rId3"/>
          <a:srcRect/>
          <a:stretch>
            <a:fillRect/>
          </a:stretch>
        </p:blipFill>
        <p:spPr>
          <a:prstGeom prst="rect">
            <a:avLst/>
          </a:prstGeom>
        </p:spPr>
      </p:pic>
      <p:sp>
        <p:nvSpPr>
          <p:cNvPr id="226" name="Blue Notch Template"/>
          <p:cNvSpPr txBox="1">
            <a:spLocks noGrp="1"/>
          </p:cNvSpPr>
          <p:nvPr>
            <p:ph type="ctrTitle"/>
          </p:nvPr>
        </p:nvSpPr>
        <p:spPr>
          <a:xfrm>
            <a:off x="457200" y="1057275"/>
            <a:ext cx="8229600" cy="3371850"/>
          </a:xfrm>
          <a:prstGeom prst="rect">
            <a:avLst/>
          </a:prstGeom>
        </p:spPr>
        <p:txBody>
          <a:bodyPr anchor="ctr" anchorCtr="0">
            <a:normAutofit/>
          </a:bodyPr>
          <a:lstStyle/>
          <a:p>
            <a:pPr algn="ctr"/>
            <a:r>
              <a:rPr lang="en-US" sz="6000" dirty="0"/>
              <a:t>Thank you!</a:t>
            </a:r>
            <a:endParaRPr sz="6000" dirty="0"/>
          </a:p>
        </p:txBody>
      </p:sp>
    </p:spTree>
    <p:extLst>
      <p:ext uri="{BB962C8B-B14F-4D97-AF65-F5344CB8AC3E}">
        <p14:creationId xmlns:p14="http://schemas.microsoft.com/office/powerpoint/2010/main" val="253584623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3">
            <a:extLst>
              <a:ext uri="{FF2B5EF4-FFF2-40B4-BE49-F238E27FC236}">
                <a16:creationId xmlns:a16="http://schemas.microsoft.com/office/drawing/2014/main" id="{90692024-DB8F-ADE3-EA35-4EFAD40956F9}"/>
              </a:ext>
            </a:extLst>
          </p:cNvPr>
          <p:cNvSpPr>
            <a:spLocks noGrp="1"/>
          </p:cNvSpPr>
          <p:nvPr>
            <p:ph type="title"/>
          </p:nvPr>
        </p:nvSpPr>
        <p:spPr>
          <a:xfrm>
            <a:off x="235716" y="413280"/>
            <a:ext cx="7316804" cy="653653"/>
          </a:xfrm>
        </p:spPr>
        <p:txBody>
          <a:bodyPr>
            <a:normAutofit/>
          </a:bodyPr>
          <a:lstStyle/>
          <a:p>
            <a:r>
              <a:rPr lang="en-US" altLang="zh-CN" sz="2800" dirty="0"/>
              <a:t>Looking Forward</a:t>
            </a:r>
            <a:endParaRPr lang="en-US" sz="2800" dirty="0"/>
          </a:p>
        </p:txBody>
      </p:sp>
      <p:sp>
        <p:nvSpPr>
          <p:cNvPr id="2" name="AutoShape 2">
            <a:extLst>
              <a:ext uri="{FF2B5EF4-FFF2-40B4-BE49-F238E27FC236}">
                <a16:creationId xmlns:a16="http://schemas.microsoft.com/office/drawing/2014/main" id="{547B4FC8-5E85-9188-C112-F06A6C4291B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 name="图片 2">
            <a:extLst>
              <a:ext uri="{FF2B5EF4-FFF2-40B4-BE49-F238E27FC236}">
                <a16:creationId xmlns:a16="http://schemas.microsoft.com/office/drawing/2014/main" id="{D9818D37-D846-BA69-46E4-FE904ABC0D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44600" y="1323291"/>
            <a:ext cx="6654800" cy="2293718"/>
          </a:xfrm>
          <a:prstGeom prst="rect">
            <a:avLst/>
          </a:prstGeom>
        </p:spPr>
      </p:pic>
      <p:sp>
        <p:nvSpPr>
          <p:cNvPr id="4" name="箭头: 五边形 3">
            <a:extLst>
              <a:ext uri="{FF2B5EF4-FFF2-40B4-BE49-F238E27FC236}">
                <a16:creationId xmlns:a16="http://schemas.microsoft.com/office/drawing/2014/main" id="{592700C1-62A6-455A-3455-F8361FEEF797}"/>
              </a:ext>
            </a:extLst>
          </p:cNvPr>
          <p:cNvSpPr/>
          <p:nvPr/>
        </p:nvSpPr>
        <p:spPr>
          <a:xfrm>
            <a:off x="7124700" y="2109284"/>
            <a:ext cx="1120140" cy="438336"/>
          </a:xfrm>
          <a:prstGeom prst="homePlate">
            <a:avLst>
              <a:gd name="adj" fmla="val 55416"/>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100" b="1" i="0" u="none" strike="noStrike" cap="none" spc="0" normalizeH="0" baseline="0" dirty="0">
                <a:ln>
                  <a:noFill/>
                </a:ln>
                <a:solidFill>
                  <a:srgbClr val="FFFFFF"/>
                </a:solidFill>
                <a:effectLst/>
                <a:uFillTx/>
                <a:latin typeface="Arial" panose="020B0604020202020204" pitchFamily="34" charset="0"/>
                <a:ea typeface="Source Sans 3 Medium"/>
                <a:cs typeface="Arial" panose="020B0604020202020204" pitchFamily="34" charset="0"/>
                <a:sym typeface="Source Sans 3 Medium"/>
              </a:rPr>
              <a:t>Human-like</a:t>
            </a:r>
          </a:p>
          <a:p>
            <a:pPr marL="0" marR="0" indent="0" algn="ctr" defTabSz="825500" rtl="0" fontAlgn="auto" latinLnBrk="0" hangingPunct="0">
              <a:lnSpc>
                <a:spcPct val="100000"/>
              </a:lnSpc>
              <a:spcBef>
                <a:spcPts val="0"/>
              </a:spcBef>
              <a:spcAft>
                <a:spcPts val="0"/>
              </a:spcAft>
              <a:buClrTx/>
              <a:buSzTx/>
              <a:buFontTx/>
              <a:buNone/>
              <a:tabLst/>
            </a:pPr>
            <a:r>
              <a:rPr lang="en-US" altLang="zh-CN" sz="1100" b="1" dirty="0">
                <a:solidFill>
                  <a:srgbClr val="FFFFFF"/>
                </a:solidFill>
                <a:latin typeface="Arial" panose="020B0604020202020204" pitchFamily="34" charset="0"/>
                <a:ea typeface="Source Sans 3 Medium"/>
                <a:cs typeface="Arial" panose="020B0604020202020204" pitchFamily="34" charset="0"/>
                <a:sym typeface="Source Sans 3 Medium"/>
              </a:rPr>
              <a:t>reasoning</a:t>
            </a:r>
            <a:endParaRPr kumimoji="0" lang="zh-CN" altLang="en-US" sz="1100" b="1" i="0" u="none" strike="noStrike" cap="none" spc="0" normalizeH="0" baseline="0" dirty="0">
              <a:ln>
                <a:noFill/>
              </a:ln>
              <a:solidFill>
                <a:srgbClr val="FFFFFF"/>
              </a:solidFill>
              <a:effectLst/>
              <a:uFillTx/>
              <a:latin typeface="Arial" panose="020B0604020202020204" pitchFamily="34" charset="0"/>
              <a:ea typeface="Source Sans 3 Medium"/>
              <a:cs typeface="Arial" panose="020B0604020202020204" pitchFamily="34" charset="0"/>
              <a:sym typeface="Source Sans 3 Medium"/>
            </a:endParaRPr>
          </a:p>
        </p:txBody>
      </p:sp>
      <p:sp>
        <p:nvSpPr>
          <p:cNvPr id="5" name="箭头: 五边形 4">
            <a:extLst>
              <a:ext uri="{FF2B5EF4-FFF2-40B4-BE49-F238E27FC236}">
                <a16:creationId xmlns:a16="http://schemas.microsoft.com/office/drawing/2014/main" id="{7FD68B93-4C38-E785-B336-1511CEEC8E87}"/>
              </a:ext>
            </a:extLst>
          </p:cNvPr>
          <p:cNvSpPr/>
          <p:nvPr/>
        </p:nvSpPr>
        <p:spPr>
          <a:xfrm>
            <a:off x="911860" y="2048324"/>
            <a:ext cx="1120140" cy="438336"/>
          </a:xfrm>
          <a:prstGeom prst="homePlate">
            <a:avLst>
              <a:gd name="adj" fmla="val 55416"/>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altLang="zh-CN" sz="11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endParaRPr>
          </a:p>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endParaRPr>
          </a:p>
        </p:txBody>
      </p:sp>
      <p:sp>
        <p:nvSpPr>
          <p:cNvPr id="6" name="文本框 5">
            <a:extLst>
              <a:ext uri="{FF2B5EF4-FFF2-40B4-BE49-F238E27FC236}">
                <a16:creationId xmlns:a16="http://schemas.microsoft.com/office/drawing/2014/main" id="{679F1478-939A-643A-9885-4C7CE3D8F908}"/>
              </a:ext>
            </a:extLst>
          </p:cNvPr>
          <p:cNvSpPr txBox="1"/>
          <p:nvPr/>
        </p:nvSpPr>
        <p:spPr>
          <a:xfrm>
            <a:off x="495300" y="2128992"/>
            <a:ext cx="177292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altLang="zh-CN" sz="1200" b="1" i="0" u="none" strike="noStrike" cap="none" spc="0" normalizeH="0" baseline="0" dirty="0">
                <a:ln>
                  <a:noFill/>
                </a:ln>
                <a:solidFill>
                  <a:srgbClr val="FFFFFF"/>
                </a:solidFill>
                <a:effectLst/>
                <a:uFillTx/>
                <a:latin typeface="Arial" panose="020B0604020202020204" pitchFamily="34" charset="0"/>
                <a:ea typeface="Source Sans 3 Medium"/>
                <a:cs typeface="Arial" panose="020B0604020202020204" pitchFamily="34" charset="0"/>
                <a:sym typeface="Source Sans 3 Medium"/>
              </a:rPr>
              <a:t>Data</a:t>
            </a:r>
            <a:endParaRPr lang="zh-CN" altLang="en-US"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1637415"/>
      </p:ext>
    </p:extLst>
  </p:cSld>
  <p:clrMapOvr>
    <a:masterClrMapping/>
  </p:clrMapOvr>
  <p:transition spd="med"/>
</p:sld>
</file>

<file path=ppt/theme/theme1.xml><?xml version="1.0" encoding="utf-8"?>
<a:theme xmlns:a="http://schemas.openxmlformats.org/drawingml/2006/main" name="21_BasicWhite">
  <a:themeElements>
    <a:clrScheme name="Blue Notch">
      <a:dk1>
        <a:srgbClr val="182B48"/>
      </a:dk1>
      <a:lt1>
        <a:srgbClr val="FEFFFF"/>
      </a:lt1>
      <a:dk2>
        <a:srgbClr val="182B48"/>
      </a:dk2>
      <a:lt2>
        <a:srgbClr val="FEFFFF"/>
      </a:lt2>
      <a:accent1>
        <a:srgbClr val="00629B"/>
      </a:accent1>
      <a:accent2>
        <a:srgbClr val="00C5D6"/>
      </a:accent2>
      <a:accent3>
        <a:srgbClr val="B6B1A8"/>
      </a:accent3>
      <a:accent4>
        <a:srgbClr val="00629B"/>
      </a:accent4>
      <a:accent5>
        <a:srgbClr val="00C5D6"/>
      </a:accent5>
      <a:accent6>
        <a:srgbClr val="B6B1A8"/>
      </a:accent6>
      <a:hlink>
        <a:srgbClr val="00629B"/>
      </a:hlink>
      <a:folHlink>
        <a:srgbClr val="747578"/>
      </a:folHlink>
    </a:clrScheme>
    <a:fontScheme name="21_BasicWhite">
      <a:majorFont>
        <a:latin typeface="Teko Bold"/>
        <a:ea typeface="Teko Bold"/>
        <a:cs typeface="Teko Bold"/>
      </a:majorFont>
      <a:minorFont>
        <a:latin typeface="Teko Bold"/>
        <a:ea typeface="Teko Bold"/>
        <a:cs typeface="Teko Bold"/>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Source Sans 3 Medium"/>
            <a:ea typeface="Source Sans 3 Medium"/>
            <a:cs typeface="Source Sans 3 Medium"/>
            <a:sym typeface="Source Sans 3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Teko Bold"/>
        <a:ea typeface="Teko Bold"/>
        <a:cs typeface="Teko Bold"/>
      </a:majorFont>
      <a:minorFont>
        <a:latin typeface="Teko Bold"/>
        <a:ea typeface="Teko Bold"/>
        <a:cs typeface="Teko Bold"/>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Source Sans 3 Medium"/>
            <a:ea typeface="Source Sans 3 Medium"/>
            <a:cs typeface="Source Sans 3 Medium"/>
            <a:sym typeface="Source Sans 3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2787</TotalTime>
  <Words>1510</Words>
  <Application>Microsoft Macintosh PowerPoint</Application>
  <PresentationFormat>全屏显示(16:9)</PresentationFormat>
  <Paragraphs>169</Paragraphs>
  <Slides>18</Slides>
  <Notes>15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18</vt:i4>
      </vt:variant>
    </vt:vector>
  </HeadingPairs>
  <TitlesOfParts>
    <vt:vector size="24" baseType="lpstr">
      <vt:lpstr>Source Sans 3</vt:lpstr>
      <vt:lpstr>Source Sans 3 Medium</vt:lpstr>
      <vt:lpstr>Source Sans 3 Regular</vt:lpstr>
      <vt:lpstr>Teko</vt:lpstr>
      <vt:lpstr>Arial</vt:lpstr>
      <vt:lpstr>21_BasicWhite</vt:lpstr>
      <vt:lpstr>From Bits to Tokens: Knowledge-Driven Generative Communication of Multimodal Data</vt:lpstr>
      <vt:lpstr>The Communication Bottleneck of Modern IoT</vt:lpstr>
      <vt:lpstr>The Misalignment in Wireless Communication</vt:lpstr>
      <vt:lpstr>The Misalignment in Wireless Communication</vt:lpstr>
      <vt:lpstr>Knowledge Driven Communication</vt:lpstr>
      <vt:lpstr>Knowledge Driven Communication</vt:lpstr>
      <vt:lpstr>Knowledge Driven Communication</vt:lpstr>
      <vt:lpstr>System Architecture Overview</vt:lpstr>
      <vt:lpstr>KDC Transmitter</vt:lpstr>
      <vt:lpstr>KDC Receiver</vt:lpstr>
      <vt:lpstr>Incremental Knowledge Accumulation</vt:lpstr>
      <vt:lpstr>Implementation: The Codec Wrapper</vt:lpstr>
      <vt:lpstr>Evaluation Setup</vt:lpstr>
      <vt:lpstr>Image and Video</vt:lpstr>
      <vt:lpstr>System Implementations</vt:lpstr>
      <vt:lpstr>Summary: Knowledge Driven Communication</vt:lpstr>
      <vt:lpstr>Thank you!</vt:lpstr>
      <vt:lpstr>Looking Forward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Notch Template</dc:title>
  <dc:creator>Xingyu Chen</dc:creator>
  <cp:lastModifiedBy>Chen, Xingyu</cp:lastModifiedBy>
  <cp:revision>393</cp:revision>
  <dcterms:modified xsi:type="dcterms:W3CDTF">2026-05-04T08:55:52Z</dcterms:modified>
</cp:coreProperties>
</file>